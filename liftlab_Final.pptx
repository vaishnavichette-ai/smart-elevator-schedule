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wanth Ambati" userId="c8c1792d0d1fcbd6" providerId="LiveId" clId="{464264AB-68ED-4804-94D0-68B6AE15A0F9}"/>
    <pc:docChg chg="undo custSel addSld modSld">
      <pc:chgData name="Ashwanth Ambati" userId="c8c1792d0d1fcbd6" providerId="LiveId" clId="{464264AB-68ED-4804-94D0-68B6AE15A0F9}" dt="2026-10-03T09:06:32.753" v="287" actId="20577"/>
      <pc:docMkLst>
        <pc:docMk/>
      </pc:docMkLst>
      <pc:sldChg chg="addSp modSp mod chgLayout">
        <pc:chgData name="Ashwanth Ambati" userId="c8c1792d0d1fcbd6" providerId="LiveId" clId="{464264AB-68ED-4804-94D0-68B6AE15A0F9}" dt="2026-10-03T09:06:32.753" v="287" actId="20577"/>
        <pc:sldMkLst>
          <pc:docMk/>
          <pc:sldMk cId="1897281833" sldId="256"/>
        </pc:sldMkLst>
        <pc:spChg chg="mod">
          <ac:chgData name="Ashwanth Ambati" userId="c8c1792d0d1fcbd6" providerId="LiveId" clId="{464264AB-68ED-4804-94D0-68B6AE15A0F9}" dt="2026-10-03T08:59:05.170" v="108" actId="20577"/>
          <ac:spMkLst>
            <pc:docMk/>
            <pc:sldMk cId="1897281833" sldId="256"/>
            <ac:spMk id="2" creationId="{B5939A5D-5511-454D-A95D-DBD8FCD948ED}"/>
          </ac:spMkLst>
        </pc:spChg>
        <pc:spChg chg="mod">
          <ac:chgData name="Ashwanth Ambati" userId="c8c1792d0d1fcbd6" providerId="LiveId" clId="{464264AB-68ED-4804-94D0-68B6AE15A0F9}" dt="2026-10-03T08:59:27.342" v="112" actId="1076"/>
          <ac:spMkLst>
            <pc:docMk/>
            <pc:sldMk cId="1897281833" sldId="256"/>
            <ac:spMk id="3" creationId="{08D88710-FB20-45C1-BF02-D901EF71136D}"/>
          </ac:spMkLst>
        </pc:spChg>
        <pc:spChg chg="mod">
          <ac:chgData name="Ashwanth Ambati" userId="c8c1792d0d1fcbd6" providerId="LiveId" clId="{464264AB-68ED-4804-94D0-68B6AE15A0F9}" dt="2026-10-03T08:59:18.517" v="111" actId="1076"/>
          <ac:spMkLst>
            <pc:docMk/>
            <pc:sldMk cId="1897281833" sldId="256"/>
            <ac:spMk id="4" creationId="{39B73B01-5051-4BD4-8A7B-CED001EDD584}"/>
          </ac:spMkLst>
        </pc:spChg>
        <pc:spChg chg="mod">
          <ac:chgData name="Ashwanth Ambati" userId="c8c1792d0d1fcbd6" providerId="LiveId" clId="{464264AB-68ED-4804-94D0-68B6AE15A0F9}" dt="2026-10-03T09:06:32.753" v="287" actId="20577"/>
          <ac:spMkLst>
            <pc:docMk/>
            <pc:sldMk cId="1897281833" sldId="256"/>
            <ac:spMk id="9" creationId="{B7515BF6-1D9C-4DFD-A3BD-A386AE605045}"/>
          </ac:spMkLst>
        </pc:spChg>
        <pc:spChg chg="mod">
          <ac:chgData name="Ashwanth Ambati" userId="c8c1792d0d1fcbd6" providerId="LiveId" clId="{464264AB-68ED-4804-94D0-68B6AE15A0F9}" dt="2026-10-03T09:03:18.405" v="121" actId="1076"/>
          <ac:spMkLst>
            <pc:docMk/>
            <pc:sldMk cId="1897281833" sldId="256"/>
            <ac:spMk id="11" creationId="{03D05AF6-8542-417C-B996-E28F1365224B}"/>
          </ac:spMkLst>
        </pc:spChg>
        <pc:spChg chg="mod">
          <ac:chgData name="Ashwanth Ambati" userId="c8c1792d0d1fcbd6" providerId="LiveId" clId="{464264AB-68ED-4804-94D0-68B6AE15A0F9}" dt="2026-10-03T08:59:04.672" v="107" actId="1076"/>
          <ac:spMkLst>
            <pc:docMk/>
            <pc:sldMk cId="1897281833" sldId="256"/>
            <ac:spMk id="36" creationId="{5B64BC35-8C83-4D94-983F-AD2B5ADB9A54}"/>
          </ac:spMkLst>
        </pc:spChg>
        <pc:picChg chg="add mod modCrop">
          <ac:chgData name="Ashwanth Ambati" userId="c8c1792d0d1fcbd6" providerId="LiveId" clId="{464264AB-68ED-4804-94D0-68B6AE15A0F9}" dt="2026-10-03T09:03:05.787" v="119" actId="732"/>
          <ac:picMkLst>
            <pc:docMk/>
            <pc:sldMk cId="1897281833" sldId="256"/>
            <ac:picMk id="41" creationId="{E2DE7CC0-1404-9945-0330-A0576FE91E35}"/>
          </ac:picMkLst>
        </pc:picChg>
      </pc:sldChg>
      <pc:sldChg chg="modSp mod">
        <pc:chgData name="Ashwanth Ambati" userId="c8c1792d0d1fcbd6" providerId="LiveId" clId="{464264AB-68ED-4804-94D0-68B6AE15A0F9}" dt="2026-10-03T07:27:25.949" v="4" actId="27636"/>
        <pc:sldMkLst>
          <pc:docMk/>
          <pc:sldMk cId="2080431990" sldId="259"/>
        </pc:sldMkLst>
        <pc:spChg chg="mod">
          <ac:chgData name="Ashwanth Ambati" userId="c8c1792d0d1fcbd6" providerId="LiveId" clId="{464264AB-68ED-4804-94D0-68B6AE15A0F9}" dt="2026-10-03T07:27:25.949" v="4" actId="27636"/>
          <ac:spMkLst>
            <pc:docMk/>
            <pc:sldMk cId="2080431990" sldId="259"/>
            <ac:spMk id="11" creationId="{607BC141-9E8D-4A1F-9798-8271FDABC087}"/>
          </ac:spMkLst>
        </pc:spChg>
      </pc:sldChg>
      <pc:sldChg chg="modSp mod">
        <pc:chgData name="Ashwanth Ambati" userId="c8c1792d0d1fcbd6" providerId="LiveId" clId="{464264AB-68ED-4804-94D0-68B6AE15A0F9}" dt="2026-10-03T07:27:25.925" v="2" actId="27636"/>
        <pc:sldMkLst>
          <pc:docMk/>
          <pc:sldMk cId="830548699" sldId="262"/>
        </pc:sldMkLst>
        <pc:spChg chg="mod">
          <ac:chgData name="Ashwanth Ambati" userId="c8c1792d0d1fcbd6" providerId="LiveId" clId="{464264AB-68ED-4804-94D0-68B6AE15A0F9}" dt="2026-10-03T07:27:25.925" v="2" actId="27636"/>
          <ac:spMkLst>
            <pc:docMk/>
            <pc:sldMk cId="830548699" sldId="262"/>
            <ac:spMk id="7" creationId="{DB96C763-78BF-4A5E-A3D5-B76878F73899}"/>
          </ac:spMkLst>
        </pc:spChg>
      </pc:sldChg>
      <pc:sldChg chg="addSp delSp modSp new mod">
        <pc:chgData name="Ashwanth Ambati" userId="c8c1792d0d1fcbd6" providerId="LiveId" clId="{464264AB-68ED-4804-94D0-68B6AE15A0F9}" dt="2026-10-03T07:31:00.054" v="74" actId="14100"/>
        <pc:sldMkLst>
          <pc:docMk/>
          <pc:sldMk cId="1986725546" sldId="263"/>
        </pc:sldMkLst>
        <pc:spChg chg="add del mod">
          <ac:chgData name="Ashwanth Ambati" userId="c8c1792d0d1fcbd6" providerId="LiveId" clId="{464264AB-68ED-4804-94D0-68B6AE15A0F9}" dt="2026-10-03T07:31:00.054" v="74" actId="14100"/>
          <ac:spMkLst>
            <pc:docMk/>
            <pc:sldMk cId="1986725546" sldId="263"/>
            <ac:spMk id="3" creationId="{8D9EF692-E21A-2116-ED9F-3729E1477F4A}"/>
          </ac:spMkLst>
        </pc:spChg>
        <pc:picChg chg="add mod">
          <ac:chgData name="Ashwanth Ambati" userId="c8c1792d0d1fcbd6" providerId="LiveId" clId="{464264AB-68ED-4804-94D0-68B6AE15A0F9}" dt="2026-10-03T07:27:36.015" v="6" actId="1076"/>
          <ac:picMkLst>
            <pc:docMk/>
            <pc:sldMk cId="1986725546" sldId="263"/>
            <ac:picMk id="2" creationId="{7007B221-6D94-0E72-946D-704C759A2C16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Average wait (seconds)</c:v>
          </c:tx>
          <c:spPr>
            <a:solidFill>
              <a:srgbClr val="27765F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68A-4EDD-9D37-985C879E558B}"/>
              </c:ext>
            </c:extLst>
          </c:dPt>
          <c:dPt>
            <c:idx val="1"/>
            <c:invertIfNegative val="0"/>
            <c:bubble3D val="0"/>
            <c:spPr>
              <a:solidFill>
                <a:srgbClr val="D98C57"/>
              </a:solidFill>
            </c:spPr>
            <c:extLst>
              <c:ext xmlns:c16="http://schemas.microsoft.com/office/drawing/2014/chart" uri="{C3380CC4-5D6E-409C-BE32-E72D297353CC}">
                <c16:uniqueId val="{00000003-368A-4EDD-9D37-985C879E558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425" b="1">
                    <a:solidFill>
                      <a:srgbClr val="172D2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Nearest-call greedy</c:v>
                </c:pt>
                <c:pt idx="1">
                  <c:v>Priority queue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35.6</c:v>
                </c:pt>
                <c:pt idx="1">
                  <c:v>60.8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368A-4EDD-9D37-985C879E558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single-elevator scheduling problem. Team member names are intentionally left as an editable placeholder because none were 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objective as understandable scheduling, not a claim that one strategy always wins. The simulation models one elevator and pickup calls; it does not model passenger drop-offs.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priority queue is rebuilt from calls currently released at each decision. The distance tie-break changes as the elevator moves, so the queue is recalculated before each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screenshot is from the working prototype’s local Flask app using the included deterministic five-call sample. Both algorithms receive identical inputs. The app is a simulation and not a live building-control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implementation scans remaining calls and constructs a heap at each stop. In the worst case, those repeated O(k) scans and heap builds sum to O(n²). The priority queue uses O(n) auxiliary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Results come from the prototype’s deterministic sample: calls at F8/P2/t0, F3/P5/t0, F15/P3/t12, F6/P4/t18, F12/P1/t25. Starting floor F1; 3 seconds per floor; 8 seconds boarding after each pickup. Greedy waits: 6, 29, 25, 44, 74 seconds (average 35.6; max 74). Priority waits: 6, 38, 67, 99, 94 seconds (average 60.8; max 99). Travel totals are 54 and 87 seconds. This is one sample, not a general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Practical benefits are prototype use cases: compare the measured wait trade-off for a chosen call set, explore scenarios, and explain the policy to learners or building planners. The simulator is not validated for dispatching real elevators. Future versions should model drop-offs, multiple cars, and fairness rules before claiming real-world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97BBCB2B-88EF-45BF-A28F-20BBF6621F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7765F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939A5D-5511-454D-A95D-DBD8FCD948ED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552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BFDCCB"/>
                </a:solidFill>
                <a:latin typeface="Arial"/>
                <a:ea typeface="Arial"/>
                <a:cs typeface="Arial"/>
              </a:defRPr>
            </a:pPr>
            <a:r>
              <a:rPr lang="en-IN" sz="1125" b="1" dirty="0">
                <a:solidFill>
                  <a:srgbClr val="BFDCCB"/>
                </a:solidFill>
                <a:latin typeface="Arial"/>
                <a:ea typeface="Arial"/>
                <a:cs typeface="Arial"/>
              </a:rPr>
              <a:t>01  /  PROJECT INTRODUCTION</a:t>
            </a:r>
            <a:endParaRPr sz="1125" b="1" dirty="0">
              <a:solidFill>
                <a:srgbClr val="BFDCC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D88710-FB20-45C1-BF02-D901EF71136D}"/>
              </a:ext>
            </a:extLst>
          </p:cNvPr>
          <p:cNvSpPr>
            <a:spLocks noGrp="1"/>
          </p:cNvSpPr>
          <p:nvPr/>
        </p:nvSpPr>
        <p:spPr>
          <a:xfrm>
            <a:off x="628651" y="2154494"/>
            <a:ext cx="638175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3000"/>
              </a:lnSpc>
              <a:buNone/>
              <a:defRPr sz="5100" b="1">
                <a:solidFill>
                  <a:srgbClr val="FFFEF8"/>
                </a:solidFill>
                <a:latin typeface="Arial"/>
                <a:ea typeface="Arial"/>
                <a:cs typeface="Arial"/>
              </a:defRPr>
            </a:pPr>
            <a:r>
              <a:rPr sz="5100" b="1" dirty="0">
                <a:solidFill>
                  <a:srgbClr val="FFFEF8"/>
                </a:solidFill>
                <a:latin typeface="Arial"/>
                <a:ea typeface="Arial"/>
                <a:cs typeface="Arial"/>
              </a:rPr>
              <a:t>Smart Elevator</a:t>
            </a:r>
          </a:p>
          <a:p>
            <a:pPr algn="l">
              <a:lnSpc>
                <a:spcPct val="93000"/>
              </a:lnSpc>
              <a:buNone/>
              <a:defRPr sz="5100" b="1">
                <a:solidFill>
                  <a:srgbClr val="FFFEF8"/>
                </a:solidFill>
                <a:latin typeface="Arial"/>
                <a:ea typeface="Arial"/>
                <a:cs typeface="Arial"/>
              </a:defRPr>
            </a:pPr>
            <a:r>
              <a:rPr sz="5100" b="1" dirty="0">
                <a:solidFill>
                  <a:srgbClr val="FFFEF8"/>
                </a:solidFill>
                <a:latin typeface="Arial"/>
                <a:ea typeface="Arial"/>
                <a:cs typeface="Arial"/>
              </a:rPr>
              <a:t>Scheduler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B73B01-5051-4BD4-8A7B-CED001EDD584}"/>
              </a:ext>
            </a:extLst>
          </p:cNvPr>
          <p:cNvSpPr>
            <a:spLocks noGrp="1"/>
          </p:cNvSpPr>
          <p:nvPr/>
        </p:nvSpPr>
        <p:spPr>
          <a:xfrm>
            <a:off x="685800" y="3648075"/>
            <a:ext cx="60483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00" b="0">
                <a:solidFill>
                  <a:srgbClr val="B8CDC4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B8CDC4"/>
                </a:solidFill>
                <a:latin typeface="Arial"/>
                <a:ea typeface="Arial"/>
                <a:cs typeface="Arial"/>
              </a:rPr>
              <a:t>An explainable simulator that compares nearest-call greedy scheduling with a priority queue.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D37F5B-D67C-4966-8F67-B2E32380279A}"/>
              </a:ext>
            </a:extLst>
          </p:cNvPr>
          <p:cNvSpPr>
            <a:spLocks noGrp="1"/>
          </p:cNvSpPr>
          <p:nvPr/>
        </p:nvSpPr>
        <p:spPr>
          <a:xfrm>
            <a:off x="723900" y="4238625"/>
            <a:ext cx="5810250" cy="9525"/>
          </a:xfrm>
          <a:prstGeom prst="rect">
            <a:avLst/>
          </a:prstGeom>
          <a:solidFill>
            <a:srgbClr val="36544C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BF710E-6192-4E8C-AAF9-1AA40000E563}"/>
              </a:ext>
            </a:extLst>
          </p:cNvPr>
          <p:cNvSpPr>
            <a:spLocks noGrp="1"/>
          </p:cNvSpPr>
          <p:nvPr/>
        </p:nvSpPr>
        <p:spPr>
          <a:xfrm>
            <a:off x="723900" y="4429125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BFDCC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FDCCB"/>
                </a:solidFill>
                <a:latin typeface="Arial"/>
                <a:ea typeface="Arial"/>
                <a:cs typeface="Arial"/>
              </a:rPr>
              <a:t>PROBLEM DOMAIN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D88F9E-DC88-4B00-8397-4ABC1B3AE812}"/>
              </a:ext>
            </a:extLst>
          </p:cNvPr>
          <p:cNvSpPr>
            <a:spLocks noGrp="1"/>
          </p:cNvSpPr>
          <p:nvPr/>
        </p:nvSpPr>
        <p:spPr>
          <a:xfrm>
            <a:off x="723900" y="4657725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FFFE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EF8"/>
                </a:solidFill>
                <a:latin typeface="Arial"/>
                <a:ea typeface="Arial"/>
                <a:cs typeface="Arial"/>
              </a:rPr>
              <a:t>Smart buildings  ·  DAA scheduling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CB71B3-1436-47E3-A9D6-A004E2CC6F75}"/>
              </a:ext>
            </a:extLst>
          </p:cNvPr>
          <p:cNvSpPr>
            <a:spLocks noGrp="1"/>
          </p:cNvSpPr>
          <p:nvPr/>
        </p:nvSpPr>
        <p:spPr>
          <a:xfrm>
            <a:off x="723900" y="521970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BFDCC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FDCCB"/>
                </a:solidFill>
                <a:latin typeface="Arial"/>
                <a:ea typeface="Arial"/>
                <a:cs typeface="Arial"/>
              </a:rPr>
              <a:t>TEAM MEMBERS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515BF6-1D9C-4DFD-A3BD-A386AE605045}"/>
              </a:ext>
            </a:extLst>
          </p:cNvPr>
          <p:cNvSpPr>
            <a:spLocks noGrp="1"/>
          </p:cNvSpPr>
          <p:nvPr/>
        </p:nvSpPr>
        <p:spPr>
          <a:xfrm>
            <a:off x="723900" y="5438775"/>
            <a:ext cx="4703506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B8CDC4"/>
                </a:solidFill>
                <a:latin typeface="Arial"/>
                <a:ea typeface="Arial"/>
                <a:cs typeface="Arial"/>
              </a:defRPr>
            </a:pPr>
            <a:r>
              <a:rPr lang="en-US" sz="1425" dirty="0" err="1">
                <a:solidFill>
                  <a:srgbClr val="B8CDC4"/>
                </a:solidFill>
                <a:latin typeface="Arial"/>
                <a:ea typeface="Arial"/>
                <a:cs typeface="Arial"/>
              </a:rPr>
              <a:t>Chette</a:t>
            </a:r>
            <a:r>
              <a:rPr lang="en-US" sz="1425" dirty="0">
                <a:solidFill>
                  <a:srgbClr val="B8CDC4"/>
                </a:solidFill>
                <a:latin typeface="Arial"/>
                <a:ea typeface="Arial"/>
                <a:cs typeface="Arial"/>
              </a:rPr>
              <a:t> Vaishnavi – 25MVCSMR0022</a:t>
            </a: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B8CDC4"/>
                </a:solidFill>
                <a:latin typeface="Arial"/>
                <a:ea typeface="Arial"/>
                <a:cs typeface="Arial"/>
              </a:defRPr>
            </a:pPr>
            <a:r>
              <a:rPr lang="en-US" sz="1425" dirty="0" err="1">
                <a:solidFill>
                  <a:srgbClr val="B8CDC4"/>
                </a:solidFill>
                <a:latin typeface="Arial"/>
                <a:ea typeface="Arial"/>
                <a:cs typeface="Arial"/>
              </a:rPr>
              <a:t>Banagari</a:t>
            </a:r>
            <a:r>
              <a:rPr lang="en-US" sz="1425" dirty="0">
                <a:solidFill>
                  <a:srgbClr val="B8CDC4"/>
                </a:solidFill>
                <a:latin typeface="Arial"/>
                <a:ea typeface="Arial"/>
                <a:cs typeface="Arial"/>
              </a:rPr>
              <a:t> Anjali -25MVCSMR0009</a:t>
            </a: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B8CDC4"/>
                </a:solidFill>
                <a:latin typeface="Arial"/>
                <a:ea typeface="Arial"/>
                <a:cs typeface="Arial"/>
              </a:defRPr>
            </a:pPr>
            <a:r>
              <a:rPr lang="en-US" sz="1425" dirty="0">
                <a:solidFill>
                  <a:srgbClr val="B8CDC4"/>
                </a:solidFill>
                <a:latin typeface="Arial"/>
                <a:ea typeface="Arial"/>
                <a:cs typeface="Arial"/>
              </a:rPr>
              <a:t>S.Bhargavi-25MVCSMR0078</a:t>
            </a: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B8CDC4"/>
                </a:solidFill>
                <a:latin typeface="Arial"/>
                <a:ea typeface="Arial"/>
                <a:cs typeface="Arial"/>
              </a:defRPr>
            </a:pPr>
            <a:r>
              <a:rPr lang="en-US" sz="1425" dirty="0">
                <a:solidFill>
                  <a:srgbClr val="B8CDC4"/>
                </a:solidFill>
                <a:latin typeface="Arial"/>
                <a:ea typeface="Arial"/>
                <a:cs typeface="Arial"/>
              </a:rPr>
              <a:t>M. </a:t>
            </a:r>
            <a:r>
              <a:rPr lang="en-US" sz="1425" dirty="0" err="1">
                <a:solidFill>
                  <a:srgbClr val="B8CDC4"/>
                </a:solidFill>
                <a:latin typeface="Arial"/>
                <a:ea typeface="Arial"/>
                <a:cs typeface="Arial"/>
              </a:rPr>
              <a:t>Tharanya</a:t>
            </a:r>
            <a:r>
              <a:rPr lang="en-US" sz="1425" dirty="0">
                <a:solidFill>
                  <a:srgbClr val="B8CDC4"/>
                </a:solidFill>
                <a:latin typeface="Arial"/>
                <a:ea typeface="Arial"/>
                <a:cs typeface="Arial"/>
              </a:rPr>
              <a:t> – 25MVCSMR0061</a:t>
            </a: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B8CDC4"/>
                </a:solidFill>
                <a:latin typeface="Arial"/>
                <a:ea typeface="Arial"/>
                <a:cs typeface="Arial"/>
              </a:defRPr>
            </a:pPr>
            <a:endParaRPr sz="1425" b="0" dirty="0">
              <a:solidFill>
                <a:srgbClr val="B8CD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8EBA9F-F3BE-4AD1-B211-5C439021D209}"/>
              </a:ext>
            </a:extLst>
          </p:cNvPr>
          <p:cNvSpPr>
            <a:spLocks noGrp="1"/>
          </p:cNvSpPr>
          <p:nvPr/>
        </p:nvSpPr>
        <p:spPr>
          <a:xfrm>
            <a:off x="7524750" y="752475"/>
            <a:ext cx="3857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B8CDC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CDC4"/>
                </a:solidFill>
                <a:latin typeface="Arial"/>
                <a:ea typeface="Arial"/>
                <a:cs typeface="Arial"/>
              </a:rPr>
              <a:t>ONE ELEVATOR  /  MULTIPLE HALL CALLS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D05AF6-8542-417C-B996-E28F1365224B}"/>
              </a:ext>
            </a:extLst>
          </p:cNvPr>
          <p:cNvSpPr>
            <a:spLocks noGrp="1"/>
          </p:cNvSpPr>
          <p:nvPr/>
        </p:nvSpPr>
        <p:spPr>
          <a:xfrm>
            <a:off x="8372475" y="1190625"/>
            <a:ext cx="2171700" cy="4210050"/>
          </a:xfrm>
          <a:prstGeom prst="roundRect">
            <a:avLst>
              <a:gd name="adj" fmla="val 5263"/>
            </a:avLst>
          </a:prstGeom>
          <a:solidFill>
            <a:srgbClr val="1D4740"/>
          </a:solidFill>
          <a:ln w="9525">
            <a:solidFill>
              <a:srgbClr val="36544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CF180E-3089-4B86-A067-10DC1A6A607B}"/>
              </a:ext>
            </a:extLst>
          </p:cNvPr>
          <p:cNvSpPr>
            <a:spLocks noGrp="1"/>
          </p:cNvSpPr>
          <p:nvPr/>
        </p:nvSpPr>
        <p:spPr>
          <a:xfrm>
            <a:off x="8601075" y="1685925"/>
            <a:ext cx="1714500" cy="9525"/>
          </a:xfrm>
          <a:prstGeom prst="rect">
            <a:avLst/>
          </a:prstGeom>
          <a:solidFill>
            <a:srgbClr val="36544C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8B8CD3-FFDC-4F35-A5EE-6A9C4C937F01}"/>
              </a:ext>
            </a:extLst>
          </p:cNvPr>
          <p:cNvSpPr>
            <a:spLocks noGrp="1"/>
          </p:cNvSpPr>
          <p:nvPr/>
        </p:nvSpPr>
        <p:spPr>
          <a:xfrm>
            <a:off x="8543925" y="14668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B8CDC4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B8CDC4"/>
                </a:solidFill>
                <a:latin typeface="Arial"/>
                <a:ea typeface="Arial"/>
                <a:cs typeface="Arial"/>
              </a:rPr>
              <a:t>F15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123AD77-FBC3-4092-964F-F6BF51433330}"/>
              </a:ext>
            </a:extLst>
          </p:cNvPr>
          <p:cNvSpPr>
            <a:spLocks noGrp="1"/>
          </p:cNvSpPr>
          <p:nvPr/>
        </p:nvSpPr>
        <p:spPr>
          <a:xfrm>
            <a:off x="9877425" y="151447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D98C57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D9AD64-8A45-47D6-ABD1-43B62238A40B}"/>
              </a:ext>
            </a:extLst>
          </p:cNvPr>
          <p:cNvSpPr>
            <a:spLocks noGrp="1"/>
          </p:cNvSpPr>
          <p:nvPr/>
        </p:nvSpPr>
        <p:spPr>
          <a:xfrm>
            <a:off x="10067925" y="149542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B8CDC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CDC4"/>
                </a:solidFill>
                <a:latin typeface="Arial"/>
                <a:ea typeface="Arial"/>
                <a:cs typeface="Arial"/>
              </a:rPr>
              <a:t>CALL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0A723F-A995-43C2-B39E-A705119DC6D1}"/>
              </a:ext>
            </a:extLst>
          </p:cNvPr>
          <p:cNvSpPr>
            <a:spLocks noGrp="1"/>
          </p:cNvSpPr>
          <p:nvPr/>
        </p:nvSpPr>
        <p:spPr>
          <a:xfrm>
            <a:off x="8601075" y="2428875"/>
            <a:ext cx="1714500" cy="9525"/>
          </a:xfrm>
          <a:prstGeom prst="rect">
            <a:avLst/>
          </a:prstGeom>
          <a:solidFill>
            <a:srgbClr val="36544C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33D235-4092-4D32-9BA8-A4F40ACE2669}"/>
              </a:ext>
            </a:extLst>
          </p:cNvPr>
          <p:cNvSpPr>
            <a:spLocks noGrp="1"/>
          </p:cNvSpPr>
          <p:nvPr/>
        </p:nvSpPr>
        <p:spPr>
          <a:xfrm>
            <a:off x="8543925" y="2209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B8CD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CDC4"/>
                </a:solidFill>
                <a:latin typeface="Arial"/>
                <a:ea typeface="Arial"/>
                <a:cs typeface="Arial"/>
              </a:rPr>
              <a:t>F12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7CD2619-E87D-4AB1-BE39-630DF6EEF021}"/>
              </a:ext>
            </a:extLst>
          </p:cNvPr>
          <p:cNvSpPr>
            <a:spLocks noGrp="1"/>
          </p:cNvSpPr>
          <p:nvPr/>
        </p:nvSpPr>
        <p:spPr>
          <a:xfrm>
            <a:off x="9877425" y="225742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D98C57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94EFD4-A0B8-4409-A30E-CCBADD2A9AB3}"/>
              </a:ext>
            </a:extLst>
          </p:cNvPr>
          <p:cNvSpPr>
            <a:spLocks noGrp="1"/>
          </p:cNvSpPr>
          <p:nvPr/>
        </p:nvSpPr>
        <p:spPr>
          <a:xfrm>
            <a:off x="10067925" y="223837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B8CDC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CDC4"/>
                </a:solidFill>
                <a:latin typeface="Arial"/>
                <a:ea typeface="Arial"/>
                <a:cs typeface="Arial"/>
              </a:rPr>
              <a:t>CALL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8E2905-FB9C-4F3B-9A78-5EAEBFA238C7}"/>
              </a:ext>
            </a:extLst>
          </p:cNvPr>
          <p:cNvSpPr>
            <a:spLocks noGrp="1"/>
          </p:cNvSpPr>
          <p:nvPr/>
        </p:nvSpPr>
        <p:spPr>
          <a:xfrm>
            <a:off x="8601075" y="3171825"/>
            <a:ext cx="1714500" cy="9525"/>
          </a:xfrm>
          <a:prstGeom prst="rect">
            <a:avLst/>
          </a:prstGeom>
          <a:solidFill>
            <a:srgbClr val="36544C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81D9D0-02E1-4E62-8140-75ECDAA2DF32}"/>
              </a:ext>
            </a:extLst>
          </p:cNvPr>
          <p:cNvSpPr>
            <a:spLocks noGrp="1"/>
          </p:cNvSpPr>
          <p:nvPr/>
        </p:nvSpPr>
        <p:spPr>
          <a:xfrm>
            <a:off x="8543925" y="2952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B8CD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CDC4"/>
                </a:solidFill>
                <a:latin typeface="Arial"/>
                <a:ea typeface="Arial"/>
                <a:cs typeface="Arial"/>
              </a:rPr>
              <a:t>F8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1E1CFBA-084A-4387-9FF8-8F553BF51507}"/>
              </a:ext>
            </a:extLst>
          </p:cNvPr>
          <p:cNvSpPr>
            <a:spLocks noGrp="1"/>
          </p:cNvSpPr>
          <p:nvPr/>
        </p:nvSpPr>
        <p:spPr>
          <a:xfrm>
            <a:off x="9877425" y="300037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D98C57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96BDB1-6EB9-4ABC-B4C7-3BDD343D1A9F}"/>
              </a:ext>
            </a:extLst>
          </p:cNvPr>
          <p:cNvSpPr>
            <a:spLocks noGrp="1"/>
          </p:cNvSpPr>
          <p:nvPr/>
        </p:nvSpPr>
        <p:spPr>
          <a:xfrm>
            <a:off x="10067925" y="298132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B8CDC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CDC4"/>
                </a:solidFill>
                <a:latin typeface="Arial"/>
                <a:ea typeface="Arial"/>
                <a:cs typeface="Arial"/>
              </a:rPr>
              <a:t>CALL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652BA2-8859-4A73-AEB9-D15A0306941A}"/>
              </a:ext>
            </a:extLst>
          </p:cNvPr>
          <p:cNvSpPr>
            <a:spLocks noGrp="1"/>
          </p:cNvSpPr>
          <p:nvPr/>
        </p:nvSpPr>
        <p:spPr>
          <a:xfrm>
            <a:off x="8601075" y="3914775"/>
            <a:ext cx="1714500" cy="9525"/>
          </a:xfrm>
          <a:prstGeom prst="rect">
            <a:avLst/>
          </a:prstGeom>
          <a:solidFill>
            <a:srgbClr val="36544C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88AF84-1D1B-42AB-B2E7-5779F3C33DD5}"/>
              </a:ext>
            </a:extLst>
          </p:cNvPr>
          <p:cNvSpPr>
            <a:spLocks noGrp="1"/>
          </p:cNvSpPr>
          <p:nvPr/>
        </p:nvSpPr>
        <p:spPr>
          <a:xfrm>
            <a:off x="8543925" y="36957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B8CD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CDC4"/>
                </a:solidFill>
                <a:latin typeface="Arial"/>
                <a:ea typeface="Arial"/>
                <a:cs typeface="Arial"/>
              </a:rPr>
              <a:t>F6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ED676B9-C125-489B-8FE3-AD7208BD5E88}"/>
              </a:ext>
            </a:extLst>
          </p:cNvPr>
          <p:cNvSpPr>
            <a:spLocks noGrp="1"/>
          </p:cNvSpPr>
          <p:nvPr/>
        </p:nvSpPr>
        <p:spPr>
          <a:xfrm>
            <a:off x="9877425" y="374332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D98C57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241723-0AA8-4BC6-AC58-938966D36BDF}"/>
              </a:ext>
            </a:extLst>
          </p:cNvPr>
          <p:cNvSpPr>
            <a:spLocks noGrp="1"/>
          </p:cNvSpPr>
          <p:nvPr/>
        </p:nvSpPr>
        <p:spPr>
          <a:xfrm>
            <a:off x="10067925" y="372427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B8CDC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CDC4"/>
                </a:solidFill>
                <a:latin typeface="Arial"/>
                <a:ea typeface="Arial"/>
                <a:cs typeface="Arial"/>
              </a:rPr>
              <a:t>CALL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E173DE-AA4D-40AB-BC51-862E1A4E91A7}"/>
              </a:ext>
            </a:extLst>
          </p:cNvPr>
          <p:cNvSpPr>
            <a:spLocks noGrp="1"/>
          </p:cNvSpPr>
          <p:nvPr/>
        </p:nvSpPr>
        <p:spPr>
          <a:xfrm>
            <a:off x="8601075" y="4657725"/>
            <a:ext cx="1714500" cy="9525"/>
          </a:xfrm>
          <a:prstGeom prst="rect">
            <a:avLst/>
          </a:prstGeom>
          <a:solidFill>
            <a:srgbClr val="36544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001E59-649E-42EA-8664-64652A810CA0}"/>
              </a:ext>
            </a:extLst>
          </p:cNvPr>
          <p:cNvSpPr>
            <a:spLocks noGrp="1"/>
          </p:cNvSpPr>
          <p:nvPr/>
        </p:nvSpPr>
        <p:spPr>
          <a:xfrm>
            <a:off x="8543925" y="4438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B8CD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CDC4"/>
                </a:solidFill>
                <a:latin typeface="Arial"/>
                <a:ea typeface="Arial"/>
                <a:cs typeface="Arial"/>
              </a:rPr>
              <a:t>F3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1AFCDDF-2AA6-4C2E-9DD1-3FFF66DEE998}"/>
              </a:ext>
            </a:extLst>
          </p:cNvPr>
          <p:cNvSpPr>
            <a:spLocks noGrp="1"/>
          </p:cNvSpPr>
          <p:nvPr/>
        </p:nvSpPr>
        <p:spPr>
          <a:xfrm>
            <a:off x="9877425" y="4486275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D98C57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187D9F-534B-4AFD-970B-1AAC77538D30}"/>
              </a:ext>
            </a:extLst>
          </p:cNvPr>
          <p:cNvSpPr>
            <a:spLocks noGrp="1"/>
          </p:cNvSpPr>
          <p:nvPr/>
        </p:nvSpPr>
        <p:spPr>
          <a:xfrm>
            <a:off x="10067925" y="446722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B8CDC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CDC4"/>
                </a:solidFill>
                <a:latin typeface="Arial"/>
                <a:ea typeface="Arial"/>
                <a:cs typeface="Arial"/>
              </a:rPr>
              <a:t>CALL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D83EDE-C4BB-4A85-BC56-9B80A82FE10A}"/>
              </a:ext>
            </a:extLst>
          </p:cNvPr>
          <p:cNvSpPr>
            <a:spLocks noGrp="1"/>
          </p:cNvSpPr>
          <p:nvPr/>
        </p:nvSpPr>
        <p:spPr>
          <a:xfrm>
            <a:off x="8601075" y="5286375"/>
            <a:ext cx="1714500" cy="9525"/>
          </a:xfrm>
          <a:prstGeom prst="rect">
            <a:avLst/>
          </a:prstGeom>
          <a:solidFill>
            <a:srgbClr val="36544C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996A688-8559-48A4-A50B-5EEF1B830C01}"/>
              </a:ext>
            </a:extLst>
          </p:cNvPr>
          <p:cNvSpPr>
            <a:spLocks noGrp="1"/>
          </p:cNvSpPr>
          <p:nvPr/>
        </p:nvSpPr>
        <p:spPr>
          <a:xfrm>
            <a:off x="8543925" y="50673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B8CD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CDC4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42F839B-2EEB-4C15-AC05-D9C2A33E094F}"/>
              </a:ext>
            </a:extLst>
          </p:cNvPr>
          <p:cNvSpPr>
            <a:spLocks noGrp="1"/>
          </p:cNvSpPr>
          <p:nvPr/>
        </p:nvSpPr>
        <p:spPr>
          <a:xfrm>
            <a:off x="9134475" y="5048250"/>
            <a:ext cx="914400" cy="400050"/>
          </a:xfrm>
          <a:prstGeom prst="roundRect">
            <a:avLst>
              <a:gd name="adj" fmla="val 19048"/>
            </a:avLst>
          </a:prstGeom>
          <a:solidFill>
            <a:srgbClr val="27765F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01380A-F2BB-4451-8BB6-31D60A4E0C06}"/>
              </a:ext>
            </a:extLst>
          </p:cNvPr>
          <p:cNvSpPr>
            <a:spLocks noGrp="1"/>
          </p:cNvSpPr>
          <p:nvPr/>
        </p:nvSpPr>
        <p:spPr>
          <a:xfrm>
            <a:off x="9134475" y="5153025"/>
            <a:ext cx="914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FFFE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EF8"/>
                </a:solidFill>
                <a:latin typeface="Arial"/>
                <a:ea typeface="Arial"/>
                <a:cs typeface="Arial"/>
              </a:rPr>
              <a:t>LIFT  ·  F1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B64BC35-8C83-4D94-983F-AD2B5ADB9A54}"/>
              </a:ext>
            </a:extLst>
          </p:cNvPr>
          <p:cNvSpPr>
            <a:spLocks noGrp="1"/>
          </p:cNvSpPr>
          <p:nvPr/>
        </p:nvSpPr>
        <p:spPr>
          <a:xfrm>
            <a:off x="7524750" y="5667375"/>
            <a:ext cx="3857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735" lnSpcReduction="10000"/>
          </a:bodyPr>
          <a:lstStyle/>
          <a:p>
            <a:pPr algn="ctr">
              <a:lnSpc>
                <a:spcPct val="100000"/>
              </a:lnSpc>
              <a:buNone/>
              <a:defRPr sz="1275" b="0">
                <a:solidFill>
                  <a:srgbClr val="B8CDC4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B8CDC4"/>
                </a:solidFill>
                <a:latin typeface="Arial"/>
                <a:ea typeface="Arial"/>
                <a:cs typeface="Arial"/>
              </a:rPr>
              <a:t>Calls arrive over time. The scheduler chooses the next pickup.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CA3E36-1518-4F68-B8CE-253A925B439A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9525"/>
          </a:xfrm>
          <a:prstGeom prst="rect">
            <a:avLst/>
          </a:prstGeom>
          <a:solidFill>
            <a:srgbClr val="36544C"/>
          </a:solidFill>
          <a:ln w="0">
            <a:noFill/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A9C3AA-2685-4087-A365-68F1FB03EBBE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B8CD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DC4"/>
                </a:solidFill>
                <a:latin typeface="Arial"/>
                <a:ea typeface="Arial"/>
                <a:cs typeface="Arial"/>
              </a:rPr>
              <a:t>SMART ELEVATOR SCHEDULER  /  HACKATHON PROTOTYPE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F44AA8-483B-4732-8972-2DA6541F62CB}"/>
              </a:ext>
            </a:extLst>
          </p:cNvPr>
          <p:cNvSpPr>
            <a:spLocks noGrp="1"/>
          </p:cNvSpPr>
          <p:nvPr/>
        </p:nvSpPr>
        <p:spPr>
          <a:xfrm>
            <a:off x="10382250" y="6524625"/>
            <a:ext cx="112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>
                <a:solidFill>
                  <a:srgbClr val="B8CD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DC4"/>
                </a:solidFill>
                <a:latin typeface="Arial"/>
                <a:ea typeface="Arial"/>
                <a:cs typeface="Arial"/>
              </a:rPr>
              <a:t>01  /  07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2DE7CC0-1404-9945-0330-A0576FE91E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7001" b="12646"/>
          <a:stretch/>
        </p:blipFill>
        <p:spPr>
          <a:xfrm>
            <a:off x="0" y="-177290"/>
            <a:ext cx="12192000" cy="181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281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769396D-CC37-4B01-B65F-0918FFCD82FA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8382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2776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765F"/>
                </a:solidFill>
                <a:latin typeface="Arial"/>
                <a:ea typeface="Arial"/>
                <a:cs typeface="Arial"/>
              </a:rPr>
              <a:t>02  /  THE CHALLENGE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1DBD10-D387-48DB-ABAC-15650099450E}"/>
              </a:ext>
            </a:extLst>
          </p:cNvPr>
          <p:cNvSpPr>
            <a:spLocks noGrp="1"/>
          </p:cNvSpPr>
          <p:nvPr/>
        </p:nvSpPr>
        <p:spPr>
          <a:xfrm>
            <a:off x="685800" y="6953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750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The Challenge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34F934-B1BB-4882-B36E-DABC618DA366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9525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0733CC-CDB1-4E2B-B489-612154E63AEB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SMART ELEVATOR SCHEDULER  /  HACKATHON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A479C1-4CFC-4D2A-AA94-695D7C1EF220}"/>
              </a:ext>
            </a:extLst>
          </p:cNvPr>
          <p:cNvSpPr>
            <a:spLocks noGrp="1"/>
          </p:cNvSpPr>
          <p:nvPr/>
        </p:nvSpPr>
        <p:spPr>
          <a:xfrm>
            <a:off x="10382250" y="6524625"/>
            <a:ext cx="112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02  /  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07D689-C450-4653-B6A9-B0F4BCBD5500}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419100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41"/>
          </a:bodyPr>
          <a:lstStyle/>
          <a:p>
            <a:pPr algn="l">
              <a:lnSpc>
                <a:spcPct val="97000"/>
              </a:lnSpc>
              <a:buNone/>
              <a:defRPr sz="3000" b="1">
                <a:solidFill>
                  <a:srgbClr val="153A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3A35"/>
                </a:solidFill>
                <a:latin typeface="Arial"/>
                <a:ea typeface="Arial"/>
                <a:cs typeface="Arial"/>
              </a:rPr>
              <a:t>One car.</a:t>
            </a:r>
          </a:p>
          <a:p>
            <a:pPr algn="l">
              <a:lnSpc>
                <a:spcPct val="97000"/>
              </a:lnSpc>
              <a:buNone/>
              <a:defRPr sz="3000" b="1">
                <a:solidFill>
                  <a:srgbClr val="153A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3A35"/>
                </a:solidFill>
                <a:latin typeface="Arial"/>
                <a:ea typeface="Arial"/>
                <a:cs typeface="Arial"/>
              </a:rPr>
              <a:t>Many requests.</a:t>
            </a:r>
          </a:p>
          <a:p>
            <a:pPr algn="l">
              <a:lnSpc>
                <a:spcPct val="97000"/>
              </a:lnSpc>
              <a:buNone/>
              <a:defRPr sz="3000" b="1">
                <a:solidFill>
                  <a:srgbClr val="153A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3A35"/>
                </a:solidFill>
                <a:latin typeface="Arial"/>
                <a:ea typeface="Arial"/>
                <a:cs typeface="Arial"/>
              </a:rPr>
              <a:t>One next-stop decision.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68484F-BF6C-4403-B420-9EC3F3E87EBB}"/>
              </a:ext>
            </a:extLst>
          </p:cNvPr>
          <p:cNvSpPr>
            <a:spLocks noGrp="1"/>
          </p:cNvSpPr>
          <p:nvPr/>
        </p:nvSpPr>
        <p:spPr>
          <a:xfrm>
            <a:off x="723900" y="3638550"/>
            <a:ext cx="39528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A pickup changes the elevator’s position and the wait of every call still in the queue.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B5464C-FC70-488E-9141-482B99525111}"/>
              </a:ext>
            </a:extLst>
          </p:cNvPr>
          <p:cNvSpPr>
            <a:spLocks noGrp="1"/>
          </p:cNvSpPr>
          <p:nvPr/>
        </p:nvSpPr>
        <p:spPr>
          <a:xfrm>
            <a:off x="5248275" y="1685925"/>
            <a:ext cx="9525" cy="4095750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544638-9DC0-4AB3-B9FE-1F935B26F52F}"/>
              </a:ext>
            </a:extLst>
          </p:cNvPr>
          <p:cNvSpPr>
            <a:spLocks noGrp="1"/>
          </p:cNvSpPr>
          <p:nvPr/>
        </p:nvSpPr>
        <p:spPr>
          <a:xfrm>
            <a:off x="5695950" y="1752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2776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776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A3B79E-0AE4-4E39-93FA-19E910671983}"/>
              </a:ext>
            </a:extLst>
          </p:cNvPr>
          <p:cNvSpPr>
            <a:spLocks noGrp="1"/>
          </p:cNvSpPr>
          <p:nvPr/>
        </p:nvSpPr>
        <p:spPr>
          <a:xfrm>
            <a:off x="6248400" y="1733550"/>
            <a:ext cx="474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8A7D8E-EB4E-4749-AEE8-C4B7FE48B89E}"/>
              </a:ext>
            </a:extLst>
          </p:cNvPr>
          <p:cNvSpPr>
            <a:spLocks noGrp="1"/>
          </p:cNvSpPr>
          <p:nvPr/>
        </p:nvSpPr>
        <p:spPr>
          <a:xfrm>
            <a:off x="6248400" y="2076450"/>
            <a:ext cx="4762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Long or uneven waits affect passenger experience and building flow.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C919B0-1546-41E5-B420-FA5F93F8AF13}"/>
              </a:ext>
            </a:extLst>
          </p:cNvPr>
          <p:cNvSpPr>
            <a:spLocks noGrp="1"/>
          </p:cNvSpPr>
          <p:nvPr/>
        </p:nvSpPr>
        <p:spPr>
          <a:xfrm>
            <a:off x="5695950" y="2619375"/>
            <a:ext cx="5305425" cy="9525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C615CA-A687-4C91-AB2B-812F76EB7B40}"/>
              </a:ext>
            </a:extLst>
          </p:cNvPr>
          <p:cNvSpPr>
            <a:spLocks noGrp="1"/>
          </p:cNvSpPr>
          <p:nvPr/>
        </p:nvSpPr>
        <p:spPr>
          <a:xfrm>
            <a:off x="5695950" y="27336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2776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776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5C6172-C07E-4376-8759-61AE696336E9}"/>
              </a:ext>
            </a:extLst>
          </p:cNvPr>
          <p:cNvSpPr>
            <a:spLocks noGrp="1"/>
          </p:cNvSpPr>
          <p:nvPr/>
        </p:nvSpPr>
        <p:spPr>
          <a:xfrm>
            <a:off x="6248400" y="2714625"/>
            <a:ext cx="474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Calls arrive over time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85258A-71C8-46E8-AD26-1B1A80A6F9AC}"/>
              </a:ext>
            </a:extLst>
          </p:cNvPr>
          <p:cNvSpPr>
            <a:spLocks noGrp="1"/>
          </p:cNvSpPr>
          <p:nvPr/>
        </p:nvSpPr>
        <p:spPr>
          <a:xfrm>
            <a:off x="6248400" y="3057525"/>
            <a:ext cx="4762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A request may appear while the elevator is already serving another floor.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4D42A9-35BD-486F-BB04-C299EBA51E72}"/>
              </a:ext>
            </a:extLst>
          </p:cNvPr>
          <p:cNvSpPr>
            <a:spLocks noGrp="1"/>
          </p:cNvSpPr>
          <p:nvPr/>
        </p:nvSpPr>
        <p:spPr>
          <a:xfrm>
            <a:off x="5695950" y="3600450"/>
            <a:ext cx="5305425" cy="9525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CA8408-1316-4636-A387-7F66D2199FC4}"/>
              </a:ext>
            </a:extLst>
          </p:cNvPr>
          <p:cNvSpPr>
            <a:spLocks noGrp="1"/>
          </p:cNvSpPr>
          <p:nvPr/>
        </p:nvSpPr>
        <p:spPr>
          <a:xfrm>
            <a:off x="5695950" y="37147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2776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776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584DEF-ADD5-4033-B30F-488C3C37C80D}"/>
              </a:ext>
            </a:extLst>
          </p:cNvPr>
          <p:cNvSpPr>
            <a:spLocks noGrp="1"/>
          </p:cNvSpPr>
          <p:nvPr/>
        </p:nvSpPr>
        <p:spPr>
          <a:xfrm>
            <a:off x="6248400" y="3695700"/>
            <a:ext cx="474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Trade-offs are real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8BF161-CF8D-476E-AEAD-240AEEAB5136}"/>
              </a:ext>
            </a:extLst>
          </p:cNvPr>
          <p:cNvSpPr>
            <a:spLocks noGrp="1"/>
          </p:cNvSpPr>
          <p:nvPr/>
        </p:nvSpPr>
        <p:spPr>
          <a:xfrm>
            <a:off x="6248400" y="4038600"/>
            <a:ext cx="4762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Nearest-first can shorten the next trip; urgency-first can protect priority calls.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8422B9-EF49-4FA2-A9D7-7EBC27B64CC9}"/>
              </a:ext>
            </a:extLst>
          </p:cNvPr>
          <p:cNvSpPr>
            <a:spLocks noGrp="1"/>
          </p:cNvSpPr>
          <p:nvPr/>
        </p:nvSpPr>
        <p:spPr>
          <a:xfrm>
            <a:off x="5695950" y="4581525"/>
            <a:ext cx="5305425" cy="9525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8AC564-2C9C-47E1-910A-FAEFCB0D3478}"/>
              </a:ext>
            </a:extLst>
          </p:cNvPr>
          <p:cNvSpPr>
            <a:spLocks noGrp="1"/>
          </p:cNvSpPr>
          <p:nvPr/>
        </p:nvSpPr>
        <p:spPr>
          <a:xfrm>
            <a:off x="5695950" y="46958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2776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776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B9FE6F-094B-4D3B-90BA-C533DEA6F328}"/>
              </a:ext>
            </a:extLst>
          </p:cNvPr>
          <p:cNvSpPr>
            <a:spLocks noGrp="1"/>
          </p:cNvSpPr>
          <p:nvPr/>
        </p:nvSpPr>
        <p:spPr>
          <a:xfrm>
            <a:off x="6248400" y="4676775"/>
            <a:ext cx="474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The hard part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A9EF11-9469-4FE1-8BFC-F88E4C6BE1D2}"/>
              </a:ext>
            </a:extLst>
          </p:cNvPr>
          <p:cNvSpPr>
            <a:spLocks noGrp="1"/>
          </p:cNvSpPr>
          <p:nvPr/>
        </p:nvSpPr>
        <p:spPr>
          <a:xfrm>
            <a:off x="6248400" y="5019675"/>
            <a:ext cx="4762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Choose a clear rule, measure its effect, and explain the selected order.</a:t>
            </a:r>
          </a:p>
        </p:txBody>
      </p:sp>
    </p:spTree>
    <p:extLst>
      <p:ext uri="{BB962C8B-B14F-4D97-AF65-F5344CB8AC3E}">
        <p14:creationId xmlns:p14="http://schemas.microsoft.com/office/powerpoint/2010/main" val="549083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98624C8-E249-4531-9BB7-A925D6DE89EB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8382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2776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765F"/>
                </a:solidFill>
                <a:latin typeface="Arial"/>
                <a:ea typeface="Arial"/>
                <a:cs typeface="Arial"/>
              </a:rPr>
              <a:t>03  /  OUR INNOVATION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6D6843-CB93-4E86-817D-97DD4F260F7D}"/>
              </a:ext>
            </a:extLst>
          </p:cNvPr>
          <p:cNvSpPr>
            <a:spLocks noGrp="1"/>
          </p:cNvSpPr>
          <p:nvPr/>
        </p:nvSpPr>
        <p:spPr>
          <a:xfrm>
            <a:off x="685800" y="6953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750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Our Innovation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122415-5602-4EAC-A620-D4E739DA05B1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9525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13E37B-0231-49BD-98E0-C006FE7335EF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SMART ELEVATOR SCHEDULER  /  HACKATHON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386A09-7B6C-48F1-A6BC-9F3158A3F6BB}"/>
              </a:ext>
            </a:extLst>
          </p:cNvPr>
          <p:cNvSpPr>
            <a:spLocks noGrp="1"/>
          </p:cNvSpPr>
          <p:nvPr/>
        </p:nvSpPr>
        <p:spPr>
          <a:xfrm>
            <a:off x="10382250" y="6524625"/>
            <a:ext cx="112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03  /  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7E1009-71D8-4CF5-82CD-AE4D99994742}"/>
              </a:ext>
            </a:extLst>
          </p:cNvPr>
          <p:cNvSpPr>
            <a:spLocks noGrp="1"/>
          </p:cNvSpPr>
          <p:nvPr/>
        </p:nvSpPr>
        <p:spPr>
          <a:xfrm>
            <a:off x="723900" y="1524000"/>
            <a:ext cx="1038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153A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A35"/>
                </a:solidFill>
                <a:latin typeface="Arial"/>
                <a:ea typeface="Arial"/>
                <a:cs typeface="Arial"/>
              </a:rPr>
              <a:t>Two scheduling rules. One transparent comparison.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633F71-4AAD-4359-9B47-7E6D8B5A492A}"/>
              </a:ext>
            </a:extLst>
          </p:cNvPr>
          <p:cNvSpPr>
            <a:spLocks noGrp="1"/>
          </p:cNvSpPr>
          <p:nvPr/>
        </p:nvSpPr>
        <p:spPr>
          <a:xfrm>
            <a:off x="6096000" y="2200275"/>
            <a:ext cx="9525" cy="2647950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D75D7F-3CDF-4B1A-83B4-537EFBD9E5CB}"/>
              </a:ext>
            </a:extLst>
          </p:cNvPr>
          <p:cNvSpPr>
            <a:spLocks noGrp="1"/>
          </p:cNvSpPr>
          <p:nvPr/>
        </p:nvSpPr>
        <p:spPr>
          <a:xfrm>
            <a:off x="723900" y="2247900"/>
            <a:ext cx="4762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D98C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8C57"/>
                </a:solidFill>
                <a:latin typeface="Arial"/>
                <a:ea typeface="Arial"/>
                <a:cs typeface="Arial"/>
              </a:rPr>
              <a:t>NEAREST-CALL GREEDY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4D54E4-E89A-4EF7-A19C-8B5173DE04C7}"/>
              </a:ext>
            </a:extLst>
          </p:cNvPr>
          <p:cNvSpPr>
            <a:spLocks noGrp="1"/>
          </p:cNvSpPr>
          <p:nvPr/>
        </p:nvSpPr>
        <p:spPr>
          <a:xfrm>
            <a:off x="723900" y="2609850"/>
            <a:ext cx="476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325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Choose the closest</a:t>
            </a:r>
          </a:p>
          <a:p>
            <a:pPr algn="l">
              <a:lnSpc>
                <a:spcPct val="98000"/>
              </a:lnSpc>
              <a:buNone/>
              <a:defRPr sz="2325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available call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D670B8-DAD5-48E4-93BE-4733BCF14E83}"/>
              </a:ext>
            </a:extLst>
          </p:cNvPr>
          <p:cNvSpPr>
            <a:spLocks noGrp="1"/>
          </p:cNvSpPr>
          <p:nvPr/>
        </p:nvSpPr>
        <p:spPr>
          <a:xfrm>
            <a:off x="723900" y="3571875"/>
            <a:ext cx="4724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Local rule: minimize the next pickup distance.</a:t>
            </a: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Tie-break: earlier release, then call ID.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AB2304-4B77-4007-9BB3-B396ABC2429A}"/>
              </a:ext>
            </a:extLst>
          </p:cNvPr>
          <p:cNvSpPr>
            <a:spLocks noGrp="1"/>
          </p:cNvSpPr>
          <p:nvPr/>
        </p:nvSpPr>
        <p:spPr>
          <a:xfrm>
            <a:off x="6648450" y="2247900"/>
            <a:ext cx="4762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2776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765F"/>
                </a:solidFill>
                <a:latin typeface="Arial"/>
                <a:ea typeface="Arial"/>
                <a:cs typeface="Arial"/>
              </a:rPr>
              <a:t>PRIORITY QUEUE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BB8615-D3C1-4E52-B036-01BD66501E0E}"/>
              </a:ext>
            </a:extLst>
          </p:cNvPr>
          <p:cNvSpPr>
            <a:spLocks noGrp="1"/>
          </p:cNvSpPr>
          <p:nvPr/>
        </p:nvSpPr>
        <p:spPr>
          <a:xfrm>
            <a:off x="6648450" y="2609850"/>
            <a:ext cx="476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325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Serve the most urgent</a:t>
            </a:r>
          </a:p>
          <a:p>
            <a:pPr algn="l">
              <a:lnSpc>
                <a:spcPct val="98000"/>
              </a:lnSpc>
              <a:buNone/>
              <a:defRPr sz="2325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ready request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CEA25F-8E70-4ED1-B396-33E55EA232DD}"/>
              </a:ext>
            </a:extLst>
          </p:cNvPr>
          <p:cNvSpPr>
            <a:spLocks noGrp="1"/>
          </p:cNvSpPr>
          <p:nvPr/>
        </p:nvSpPr>
        <p:spPr>
          <a:xfrm>
            <a:off x="6648450" y="3571875"/>
            <a:ext cx="4714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Queue order: priority 5 → 1, oldest call,</a:t>
            </a: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nearest floor, then call ID.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303300-B9B1-456A-A548-B35FC3CE7E20}"/>
              </a:ext>
            </a:extLst>
          </p:cNvPr>
          <p:cNvSpPr>
            <a:spLocks noGrp="1"/>
          </p:cNvSpPr>
          <p:nvPr/>
        </p:nvSpPr>
        <p:spPr>
          <a:xfrm>
            <a:off x="723900" y="4657725"/>
            <a:ext cx="10744200" cy="28575"/>
          </a:xfrm>
          <a:prstGeom prst="rect">
            <a:avLst/>
          </a:prstGeom>
          <a:solidFill>
            <a:srgbClr val="27765F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42CEC2-D8D9-44AD-B34D-F62B5B3B5C3A}"/>
              </a:ext>
            </a:extLst>
          </p:cNvPr>
          <p:cNvSpPr>
            <a:spLocks noGrp="1"/>
          </p:cNvSpPr>
          <p:nvPr/>
        </p:nvSpPr>
        <p:spPr>
          <a:xfrm>
            <a:off x="723900" y="489585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2776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7765F"/>
                </a:solidFill>
                <a:latin typeface="Arial"/>
                <a:ea typeface="Arial"/>
                <a:cs typeface="Arial"/>
              </a:rPr>
              <a:t>WHAT THE USER SEES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64FCD7-6E24-4936-9FF0-C574075D86AA}"/>
              </a:ext>
            </a:extLst>
          </p:cNvPr>
          <p:cNvSpPr>
            <a:spLocks noGrp="1"/>
          </p:cNvSpPr>
          <p:nvPr/>
        </p:nvSpPr>
        <p:spPr>
          <a:xfrm>
            <a:off x="723900" y="5172075"/>
            <a:ext cx="106203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D2A"/>
                </a:solidFill>
                <a:latin typeface="Arial"/>
                <a:ea typeface="Arial"/>
                <a:cs typeface="Arial"/>
              </a:rPr>
              <a:t>Pickup order  ·  arrival time  ·  wait per call  ·  average and maximum wait  ·  travel time  ·  reason for each choice</a:t>
            </a:r>
          </a:p>
        </p:txBody>
      </p:sp>
    </p:spTree>
    <p:extLst>
      <p:ext uri="{BB962C8B-B14F-4D97-AF65-F5344CB8AC3E}">
        <p14:creationId xmlns:p14="http://schemas.microsoft.com/office/powerpoint/2010/main" val="1732119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7C795BC-729F-4012-9743-63932118AADE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8382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2776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765F"/>
                </a:solidFill>
                <a:latin typeface="Arial"/>
                <a:ea typeface="Arial"/>
                <a:cs typeface="Arial"/>
              </a:rPr>
              <a:t>04  /  HOW IT WORKS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A41EC0-2315-47C0-9F75-B858EDB9DDD2}"/>
              </a:ext>
            </a:extLst>
          </p:cNvPr>
          <p:cNvSpPr>
            <a:spLocks noGrp="1"/>
          </p:cNvSpPr>
          <p:nvPr/>
        </p:nvSpPr>
        <p:spPr>
          <a:xfrm>
            <a:off x="685800" y="6953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750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12AD65-D598-4783-AEEC-4F20BAF207BB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9525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589035-4012-4E69-8706-CE59100252AF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SMART ELEVATOR SCHEDULER  /  HACKATHON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57280B-CCC2-493D-8BD0-9B64A0B8D0DC}"/>
              </a:ext>
            </a:extLst>
          </p:cNvPr>
          <p:cNvSpPr>
            <a:spLocks noGrp="1"/>
          </p:cNvSpPr>
          <p:nvPr/>
        </p:nvSpPr>
        <p:spPr>
          <a:xfrm>
            <a:off x="10382250" y="6524625"/>
            <a:ext cx="112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04  /  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9CB89C-ACBC-4ED6-9CD7-4FA475DAEF7B}"/>
              </a:ext>
            </a:extLst>
          </p:cNvPr>
          <p:cNvSpPr>
            <a:spLocks noGrp="1"/>
          </p:cNvSpPr>
          <p:nvPr/>
        </p:nvSpPr>
        <p:spPr>
          <a:xfrm>
            <a:off x="723900" y="1476375"/>
            <a:ext cx="1076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153A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A35"/>
                </a:solidFill>
                <a:latin typeface="Arial"/>
                <a:ea typeface="Arial"/>
                <a:cs typeface="Arial"/>
              </a:rPr>
              <a:t>From editable calls to an explainable schedule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0E872F-09A3-4B47-BBE4-C096AD6BA18F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4953000" cy="647700"/>
          </a:xfrm>
          <a:prstGeom prst="roundRect">
            <a:avLst>
              <a:gd name="adj" fmla="val 11765"/>
            </a:avLst>
          </a:prstGeom>
          <a:solidFill>
            <a:srgbClr val="FFFEF8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6178EE-F9FB-4386-8FA1-B49DAD3D27F3}"/>
              </a:ext>
            </a:extLst>
          </p:cNvPr>
          <p:cNvSpPr>
            <a:spLocks noGrp="1"/>
          </p:cNvSpPr>
          <p:nvPr/>
        </p:nvSpPr>
        <p:spPr>
          <a:xfrm>
            <a:off x="866775" y="21050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53A35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6F327A-F7F5-4C7E-9A67-70DEFF14C522}"/>
              </a:ext>
            </a:extLst>
          </p:cNvPr>
          <p:cNvSpPr>
            <a:spLocks noGrp="1"/>
          </p:cNvSpPr>
          <p:nvPr/>
        </p:nvSpPr>
        <p:spPr>
          <a:xfrm>
            <a:off x="866775" y="2190750"/>
            <a:ext cx="3238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FFFEF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EF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51E29E-AFAD-4EA7-A80D-182A02CD633F}"/>
              </a:ext>
            </a:extLst>
          </p:cNvPr>
          <p:cNvSpPr>
            <a:spLocks noGrp="1"/>
          </p:cNvSpPr>
          <p:nvPr/>
        </p:nvSpPr>
        <p:spPr>
          <a:xfrm>
            <a:off x="1371600" y="2038350"/>
            <a:ext cx="1381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7BC141-9E8D-4A1F-9798-8271FDABC087}"/>
              </a:ext>
            </a:extLst>
          </p:cNvPr>
          <p:cNvSpPr>
            <a:spLocks noGrp="1"/>
          </p:cNvSpPr>
          <p:nvPr/>
        </p:nvSpPr>
        <p:spPr>
          <a:xfrm>
            <a:off x="2762250" y="2038350"/>
            <a:ext cx="27336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277" lnSpcReduction="10000"/>
          </a:bodyPr>
          <a:lstStyle/>
          <a:p>
            <a:pPr algn="l">
              <a:lnSpc>
                <a:spcPct val="102000"/>
              </a:lnSpc>
              <a:buNone/>
              <a:defRPr sz="1125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Building settings +</a:t>
            </a:r>
          </a:p>
          <a:p>
            <a:pPr algn="l">
              <a:lnSpc>
                <a:spcPct val="102000"/>
              </a:lnSpc>
              <a:buNone/>
              <a:defRPr sz="1125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floor, release time</a:t>
            </a:r>
          </a:p>
          <a:p>
            <a:pPr algn="l">
              <a:lnSpc>
                <a:spcPct val="102000"/>
              </a:lnSpc>
              <a:buNone/>
              <a:defRPr sz="1125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and priority per call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B48844B-B1DB-4DF5-9EB4-26B2D9FEEBF4}"/>
              </a:ext>
            </a:extLst>
          </p:cNvPr>
          <p:cNvSpPr>
            <a:spLocks noGrp="1"/>
          </p:cNvSpPr>
          <p:nvPr/>
        </p:nvSpPr>
        <p:spPr>
          <a:xfrm>
            <a:off x="723900" y="2743200"/>
            <a:ext cx="4953000" cy="647700"/>
          </a:xfrm>
          <a:prstGeom prst="roundRect">
            <a:avLst>
              <a:gd name="adj" fmla="val 11765"/>
            </a:avLst>
          </a:prstGeom>
          <a:solidFill>
            <a:srgbClr val="FFFEF8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D090D74-57AA-4BAC-9A7B-BB1AA43EDC67}"/>
              </a:ext>
            </a:extLst>
          </p:cNvPr>
          <p:cNvSpPr>
            <a:spLocks noGrp="1"/>
          </p:cNvSpPr>
          <p:nvPr/>
        </p:nvSpPr>
        <p:spPr>
          <a:xfrm>
            <a:off x="866775" y="29051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53A35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44ABAE-2FE8-44D9-A201-A1AB792B68A6}"/>
              </a:ext>
            </a:extLst>
          </p:cNvPr>
          <p:cNvSpPr>
            <a:spLocks noGrp="1"/>
          </p:cNvSpPr>
          <p:nvPr/>
        </p:nvSpPr>
        <p:spPr>
          <a:xfrm>
            <a:off x="866775" y="2990850"/>
            <a:ext cx="3238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FFFEF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EF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38F1E1-09A4-4068-A3F9-464B22DC65A8}"/>
              </a:ext>
            </a:extLst>
          </p:cNvPr>
          <p:cNvSpPr>
            <a:spLocks noGrp="1"/>
          </p:cNvSpPr>
          <p:nvPr/>
        </p:nvSpPr>
        <p:spPr>
          <a:xfrm>
            <a:off x="1371600" y="2838450"/>
            <a:ext cx="1381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10D760-C283-47AB-AE83-CA27C8B8F251}"/>
              </a:ext>
            </a:extLst>
          </p:cNvPr>
          <p:cNvSpPr>
            <a:spLocks noGrp="1"/>
          </p:cNvSpPr>
          <p:nvPr/>
        </p:nvSpPr>
        <p:spPr>
          <a:xfrm>
            <a:off x="2762250" y="2838450"/>
            <a:ext cx="27336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125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Check ranges and</a:t>
            </a:r>
          </a:p>
          <a:p>
            <a:pPr algn="l">
              <a:lnSpc>
                <a:spcPct val="102000"/>
              </a:lnSpc>
              <a:buNone/>
              <a:defRPr sz="1125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which calls are ready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39AE358-7306-4ED7-9733-FD7E88188B46}"/>
              </a:ext>
            </a:extLst>
          </p:cNvPr>
          <p:cNvSpPr>
            <a:spLocks noGrp="1"/>
          </p:cNvSpPr>
          <p:nvPr/>
        </p:nvSpPr>
        <p:spPr>
          <a:xfrm>
            <a:off x="723900" y="3543300"/>
            <a:ext cx="4953000" cy="647700"/>
          </a:xfrm>
          <a:prstGeom prst="roundRect">
            <a:avLst>
              <a:gd name="adj" fmla="val 11765"/>
            </a:avLst>
          </a:prstGeom>
          <a:solidFill>
            <a:srgbClr val="FFFEF8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974A514-B9FC-4075-ADB4-25F32002C55E}"/>
              </a:ext>
            </a:extLst>
          </p:cNvPr>
          <p:cNvSpPr>
            <a:spLocks noGrp="1"/>
          </p:cNvSpPr>
          <p:nvPr/>
        </p:nvSpPr>
        <p:spPr>
          <a:xfrm>
            <a:off x="866775" y="37052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7765F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B7022C-1B26-4B27-9A26-269E2865D9C3}"/>
              </a:ext>
            </a:extLst>
          </p:cNvPr>
          <p:cNvSpPr>
            <a:spLocks noGrp="1"/>
          </p:cNvSpPr>
          <p:nvPr/>
        </p:nvSpPr>
        <p:spPr>
          <a:xfrm>
            <a:off x="866775" y="3790950"/>
            <a:ext cx="3238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FFFEF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EF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9338E0-5177-42FF-8D2B-FD7C66392FC2}"/>
              </a:ext>
            </a:extLst>
          </p:cNvPr>
          <p:cNvSpPr>
            <a:spLocks noGrp="1"/>
          </p:cNvSpPr>
          <p:nvPr/>
        </p:nvSpPr>
        <p:spPr>
          <a:xfrm>
            <a:off x="1371600" y="3638550"/>
            <a:ext cx="1381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Schedule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787ED8-8C32-4E7D-B20B-2748258EDB6C}"/>
              </a:ext>
            </a:extLst>
          </p:cNvPr>
          <p:cNvSpPr>
            <a:spLocks noGrp="1"/>
          </p:cNvSpPr>
          <p:nvPr/>
        </p:nvSpPr>
        <p:spPr>
          <a:xfrm>
            <a:off x="2762250" y="3638550"/>
            <a:ext cx="27336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125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Run both rules on</a:t>
            </a:r>
          </a:p>
          <a:p>
            <a:pPr algn="l">
              <a:lnSpc>
                <a:spcPct val="102000"/>
              </a:lnSpc>
              <a:buNone/>
              <a:defRPr sz="1125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the same call set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3B570EE-A3B9-495E-832F-ABC5D91CFD75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4953000" cy="647700"/>
          </a:xfrm>
          <a:prstGeom prst="roundRect">
            <a:avLst>
              <a:gd name="adj" fmla="val 11765"/>
            </a:avLst>
          </a:prstGeom>
          <a:solidFill>
            <a:srgbClr val="FFFEF8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F9345DB-C556-4210-828A-0989931EA529}"/>
              </a:ext>
            </a:extLst>
          </p:cNvPr>
          <p:cNvSpPr>
            <a:spLocks noGrp="1"/>
          </p:cNvSpPr>
          <p:nvPr/>
        </p:nvSpPr>
        <p:spPr>
          <a:xfrm>
            <a:off x="866775" y="45053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53A35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922287-5271-438E-85A4-07752064A3C6}"/>
              </a:ext>
            </a:extLst>
          </p:cNvPr>
          <p:cNvSpPr>
            <a:spLocks noGrp="1"/>
          </p:cNvSpPr>
          <p:nvPr/>
        </p:nvSpPr>
        <p:spPr>
          <a:xfrm>
            <a:off x="866775" y="4591050"/>
            <a:ext cx="3238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FFFEF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EF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B309EB5-98BE-4897-963F-AE137D6C54C4}"/>
              </a:ext>
            </a:extLst>
          </p:cNvPr>
          <p:cNvSpPr>
            <a:spLocks noGrp="1"/>
          </p:cNvSpPr>
          <p:nvPr/>
        </p:nvSpPr>
        <p:spPr>
          <a:xfrm>
            <a:off x="1371600" y="4438650"/>
            <a:ext cx="1381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DE0FE7-9488-4C04-9B4D-D8AC95095A27}"/>
              </a:ext>
            </a:extLst>
          </p:cNvPr>
          <p:cNvSpPr>
            <a:spLocks noGrp="1"/>
          </p:cNvSpPr>
          <p:nvPr/>
        </p:nvSpPr>
        <p:spPr>
          <a:xfrm>
            <a:off x="2762250" y="4438650"/>
            <a:ext cx="27336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125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Show stop order,</a:t>
            </a:r>
          </a:p>
          <a:p>
            <a:pPr algn="l">
              <a:lnSpc>
                <a:spcPct val="102000"/>
              </a:lnSpc>
              <a:buNone/>
              <a:defRPr sz="1125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waits and route cost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83EA84B-610C-4CE0-AAC2-700C91888B10}"/>
              </a:ext>
            </a:extLst>
          </p:cNvPr>
          <p:cNvSpPr>
            <a:spLocks noGrp="1"/>
          </p:cNvSpPr>
          <p:nvPr/>
        </p:nvSpPr>
        <p:spPr>
          <a:xfrm>
            <a:off x="6191250" y="1790700"/>
            <a:ext cx="52197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2776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7765F"/>
                </a:solidFill>
                <a:latin typeface="Arial"/>
                <a:ea typeface="Arial"/>
                <a:cs typeface="Arial"/>
              </a:rPr>
              <a:t>LIVE PROTOTYPE  /  DEFAULT 5-CALL SAMPLE</a:t>
            </a:r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54840" y="2066925"/>
            <a:ext cx="4730620" cy="3219450"/>
          </a:xfrm>
          <a:prstGeom prst="roundRect">
            <a:avLst>
              <a:gd name="adj" fmla="val 2959"/>
            </a:avLst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A756833-8276-4D97-9D44-0E4F214AFCB9}"/>
              </a:ext>
            </a:extLst>
          </p:cNvPr>
          <p:cNvSpPr>
            <a:spLocks noGrp="1"/>
          </p:cNvSpPr>
          <p:nvPr/>
        </p:nvSpPr>
        <p:spPr>
          <a:xfrm>
            <a:off x="6191250" y="2066925"/>
            <a:ext cx="5257800" cy="3219450"/>
          </a:xfrm>
          <a:prstGeom prst="roundRect">
            <a:avLst>
              <a:gd name="adj" fmla="val 2959"/>
            </a:avLst>
          </a:prstGeom>
          <a:noFill/>
          <a:ln w="9525">
            <a:solidFill>
              <a:srgbClr val="D8DED6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7F81A85-417C-4EFF-AD5B-3164D079EE64}"/>
              </a:ext>
            </a:extLst>
          </p:cNvPr>
          <p:cNvSpPr>
            <a:spLocks noGrp="1"/>
          </p:cNvSpPr>
          <p:nvPr/>
        </p:nvSpPr>
        <p:spPr>
          <a:xfrm>
            <a:off x="723900" y="5429250"/>
            <a:ext cx="10715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53A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A35"/>
                </a:solidFill>
                <a:latin typeface="Arial"/>
                <a:ea typeface="Arial"/>
                <a:cs typeface="Arial"/>
              </a:rPr>
              <a:t>Input  →  compare both schedules  →  inspect each pickup and its wait</a:t>
            </a:r>
          </a:p>
        </p:txBody>
      </p:sp>
    </p:spTree>
    <p:extLst>
      <p:ext uri="{BB962C8B-B14F-4D97-AF65-F5344CB8AC3E}">
        <p14:creationId xmlns:p14="http://schemas.microsoft.com/office/powerpoint/2010/main" val="2080431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6313CD0-EE93-4021-8961-78E892CA945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8382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2776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765F"/>
                </a:solidFill>
                <a:latin typeface="Arial"/>
                <a:ea typeface="Arial"/>
                <a:cs typeface="Arial"/>
              </a:rPr>
              <a:t>05  /  TECHNOLOGY &amp; ALGORITHM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4D16F4-F851-4849-9A64-2940BB0F5F0A}"/>
              </a:ext>
            </a:extLst>
          </p:cNvPr>
          <p:cNvSpPr>
            <a:spLocks noGrp="1"/>
          </p:cNvSpPr>
          <p:nvPr/>
        </p:nvSpPr>
        <p:spPr>
          <a:xfrm>
            <a:off x="685800" y="6953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750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Technology &amp; Algorithm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2C4B06-8982-448F-A521-15C7C44C2370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9525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950964-4A9D-48A2-AD55-B59C26B50EAB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SMART ELEVATOR SCHEDULER  /  HACKATHON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28EE47-B1DC-4D6B-9422-D0F9E82296D0}"/>
              </a:ext>
            </a:extLst>
          </p:cNvPr>
          <p:cNvSpPr>
            <a:spLocks noGrp="1"/>
          </p:cNvSpPr>
          <p:nvPr/>
        </p:nvSpPr>
        <p:spPr>
          <a:xfrm>
            <a:off x="10382250" y="6524625"/>
            <a:ext cx="112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05  /  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55D48D-A041-4A24-A8DC-18358A0A714A}"/>
              </a:ext>
            </a:extLst>
          </p:cNvPr>
          <p:cNvSpPr>
            <a:spLocks noGrp="1"/>
          </p:cNvSpPr>
          <p:nvPr/>
        </p:nvSpPr>
        <p:spPr>
          <a:xfrm>
            <a:off x="723900" y="145732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776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7765F"/>
                </a:solidFill>
                <a:latin typeface="Arial"/>
                <a:ea typeface="Arial"/>
                <a:cs typeface="Arial"/>
              </a:rPr>
              <a:t>Python + Flask API   ·   HTML / CSS / JavaScript interface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3F9ADC-4BC0-4E22-AD8F-C4264256B964}"/>
              </a:ext>
            </a:extLst>
          </p:cNvPr>
          <p:cNvSpPr>
            <a:spLocks noGrp="1"/>
          </p:cNvSpPr>
          <p:nvPr/>
        </p:nvSpPr>
        <p:spPr>
          <a:xfrm>
            <a:off x="6096000" y="2076450"/>
            <a:ext cx="9525" cy="3095625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2B8C45-181D-4F5D-8E19-D3E40E8ECDC4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D98C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8C57"/>
                </a:solidFill>
                <a:latin typeface="Arial"/>
                <a:ea typeface="Arial"/>
                <a:cs typeface="Arial"/>
              </a:rPr>
              <a:t>GREEDY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22E48F-EE57-4C19-BF15-EDA6A96E9271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Nearest available call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4AF41A-0EB5-4C19-8750-ECC6DDD5CA9D}"/>
              </a:ext>
            </a:extLst>
          </p:cNvPr>
          <p:cNvSpPr>
            <a:spLocks noGrp="1"/>
          </p:cNvSpPr>
          <p:nvPr/>
        </p:nvSpPr>
        <p:spPr>
          <a:xfrm>
            <a:off x="723900" y="2914650"/>
            <a:ext cx="4762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At each stop, scan released requests and pick the floor with the smallest distance.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97ECDB-849C-43E1-A671-BBF6CEF3B613}"/>
              </a:ext>
            </a:extLst>
          </p:cNvPr>
          <p:cNvSpPr>
            <a:spLocks noGrp="1"/>
          </p:cNvSpPr>
          <p:nvPr/>
        </p:nvSpPr>
        <p:spPr>
          <a:xfrm>
            <a:off x="723900" y="3714750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Time: O(n²) total  ·  Space: O(n)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1F1120-9C24-4B0A-989C-96034E7C8500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4933950" cy="9525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2B89D8-D347-4CCE-9FB9-B33BF430F450}"/>
              </a:ext>
            </a:extLst>
          </p:cNvPr>
          <p:cNvSpPr>
            <a:spLocks noGrp="1"/>
          </p:cNvSpPr>
          <p:nvPr/>
        </p:nvSpPr>
        <p:spPr>
          <a:xfrm>
            <a:off x="6648450" y="2152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2776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765F"/>
                </a:solidFill>
                <a:latin typeface="Arial"/>
                <a:ea typeface="Arial"/>
                <a:cs typeface="Arial"/>
              </a:rPr>
              <a:t>PRIORITY QUEUE  /  heapq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E6913A-C4F7-4DBC-9E3B-96D50CFD8AE2}"/>
              </a:ext>
            </a:extLst>
          </p:cNvPr>
          <p:cNvSpPr>
            <a:spLocks noGrp="1"/>
          </p:cNvSpPr>
          <p:nvPr/>
        </p:nvSpPr>
        <p:spPr>
          <a:xfrm>
            <a:off x="6648450" y="24765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Priority first, distance breaks ties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E88FCF-FF50-46BE-BC15-7A6EB1EC28AA}"/>
              </a:ext>
            </a:extLst>
          </p:cNvPr>
          <p:cNvSpPr>
            <a:spLocks noGrp="1"/>
          </p:cNvSpPr>
          <p:nvPr/>
        </p:nvSpPr>
        <p:spPr>
          <a:xfrm>
            <a:off x="6648450" y="2914650"/>
            <a:ext cx="4762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Heap key: (−priority, release time, floor distance, call ID). Higher priority is selected first.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877EE2-E31C-42C3-A4D4-CFC25150D743}"/>
              </a:ext>
            </a:extLst>
          </p:cNvPr>
          <p:cNvSpPr>
            <a:spLocks noGrp="1"/>
          </p:cNvSpPr>
          <p:nvPr/>
        </p:nvSpPr>
        <p:spPr>
          <a:xfrm>
            <a:off x="6648450" y="3714750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Time: O(n²) worst case  ·  Space: O(n)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94AE5B-26F0-4F69-9B80-E2FADA686F50}"/>
              </a:ext>
            </a:extLst>
          </p:cNvPr>
          <p:cNvSpPr>
            <a:spLocks noGrp="1"/>
          </p:cNvSpPr>
          <p:nvPr/>
        </p:nvSpPr>
        <p:spPr>
          <a:xfrm>
            <a:off x="6648450" y="4171950"/>
            <a:ext cx="4762500" cy="9525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0D25B6-EA2C-4B07-853C-DC91F051B0B1}"/>
              </a:ext>
            </a:extLst>
          </p:cNvPr>
          <p:cNvSpPr>
            <a:spLocks noGrp="1"/>
          </p:cNvSpPr>
          <p:nvPr/>
        </p:nvSpPr>
        <p:spPr>
          <a:xfrm>
            <a:off x="723900" y="4514850"/>
            <a:ext cx="2762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2776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7765F"/>
                </a:solidFill>
                <a:latin typeface="Arial"/>
                <a:ea typeface="Arial"/>
                <a:cs typeface="Arial"/>
              </a:rPr>
              <a:t>WHY REBUILD THE HEAP?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9FDFF7-AD45-477C-82DE-C2890D45E6E2}"/>
              </a:ext>
            </a:extLst>
          </p:cNvPr>
          <p:cNvSpPr>
            <a:spLocks noGrp="1"/>
          </p:cNvSpPr>
          <p:nvPr/>
        </p:nvSpPr>
        <p:spPr>
          <a:xfrm>
            <a:off x="723900" y="4791075"/>
            <a:ext cx="10525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350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The set of ready calls and the elevator’s floor can change at every decision. The prototype rebuilds the heap so its distance tie-break stays current.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BB594E-63DB-4A08-9260-4F11B6381BF0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0525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Complexity is for this prototype’s repeated selection process; a persistent indexed queue could change the trade-off.</a:t>
            </a:r>
          </a:p>
        </p:txBody>
      </p:sp>
    </p:spTree>
    <p:extLst>
      <p:ext uri="{BB962C8B-B14F-4D97-AF65-F5344CB8AC3E}">
        <p14:creationId xmlns:p14="http://schemas.microsoft.com/office/powerpoint/2010/main" val="1161547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8864762-F2C3-4649-B4FB-CD203E305EB9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8382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2776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765F"/>
                </a:solidFill>
                <a:latin typeface="Arial"/>
                <a:ea typeface="Arial"/>
                <a:cs typeface="Arial"/>
              </a:rPr>
              <a:t>06  /  DEMO &amp; IMPACT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8A4332-34F9-42F9-B7A8-8F61673D7B05}"/>
              </a:ext>
            </a:extLst>
          </p:cNvPr>
          <p:cNvSpPr>
            <a:spLocks noGrp="1"/>
          </p:cNvSpPr>
          <p:nvPr/>
        </p:nvSpPr>
        <p:spPr>
          <a:xfrm>
            <a:off x="685800" y="6953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750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Demo &amp; Impact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36E1B8-3571-484E-B580-FD7D352DEE5E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9525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A12B98-2DBD-48C8-B757-760D2CDF7739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SMART ELEVATOR SCHEDULER  /  HACKATHON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37B06F-ADA4-4A03-B14A-ED290414A832}"/>
              </a:ext>
            </a:extLst>
          </p:cNvPr>
          <p:cNvSpPr>
            <a:spLocks noGrp="1"/>
          </p:cNvSpPr>
          <p:nvPr/>
        </p:nvSpPr>
        <p:spPr>
          <a:xfrm>
            <a:off x="10382250" y="6524625"/>
            <a:ext cx="112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06  /  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066EEE-7B34-4188-BFF0-1C612E245EB5}"/>
              </a:ext>
            </a:extLst>
          </p:cNvPr>
          <p:cNvSpPr>
            <a:spLocks noGrp="1"/>
          </p:cNvSpPr>
          <p:nvPr/>
        </p:nvSpPr>
        <p:spPr>
          <a:xfrm>
            <a:off x="723900" y="1457325"/>
            <a:ext cx="10715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1746E"/>
                </a:solidFill>
                <a:latin typeface="Arial"/>
                <a:ea typeface="Arial"/>
                <a:cs typeface="Arial"/>
              </a:rPr>
              <a:t>Sample run  /  5 calls · start F1 · 3 sec per floor · 8 sec boarding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A99916-0444-4479-A3DE-32021329F753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2776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7765F"/>
                </a:solidFill>
                <a:latin typeface="Arial"/>
                <a:ea typeface="Arial"/>
                <a:cs typeface="Arial"/>
              </a:rPr>
              <a:t>AVERAGE WAIT  /  SECONDS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="628650" y="2143125"/>
          <a:ext cx="6191250" cy="233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27DC7CFE-347E-46E8-9476-8DD4CDD353B5}"/>
              </a:ext>
            </a:extLst>
          </p:cNvPr>
          <p:cNvSpPr>
            <a:spLocks noGrp="1"/>
          </p:cNvSpPr>
          <p:nvPr/>
        </p:nvSpPr>
        <p:spPr>
          <a:xfrm>
            <a:off x="7191375" y="1943100"/>
            <a:ext cx="9525" cy="3257550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390493-51E9-4BD2-B1CA-3097CF3CB747}"/>
              </a:ext>
            </a:extLst>
          </p:cNvPr>
          <p:cNvSpPr>
            <a:spLocks noGrp="1"/>
          </p:cNvSpPr>
          <p:nvPr/>
        </p:nvSpPr>
        <p:spPr>
          <a:xfrm>
            <a:off x="7610475" y="19716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2776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7765F"/>
                </a:solidFill>
                <a:latin typeface="Arial"/>
                <a:ea typeface="Arial"/>
                <a:cs typeface="Arial"/>
              </a:rPr>
              <a:t>PICKUP ORDER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BFA572-A487-42E1-9AB1-44DD5A36258A}"/>
              </a:ext>
            </a:extLst>
          </p:cNvPr>
          <p:cNvSpPr>
            <a:spLocks noGrp="1"/>
          </p:cNvSpPr>
          <p:nvPr/>
        </p:nvSpPr>
        <p:spPr>
          <a:xfrm>
            <a:off x="7610475" y="2333625"/>
            <a:ext cx="1181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98C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8C57"/>
                </a:solidFill>
                <a:latin typeface="Arial"/>
                <a:ea typeface="Arial"/>
                <a:cs typeface="Arial"/>
              </a:rPr>
              <a:t>Greedy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C8EDFD-EB90-47C9-B04F-6C521BA21825}"/>
              </a:ext>
            </a:extLst>
          </p:cNvPr>
          <p:cNvSpPr>
            <a:spLocks noGrp="1"/>
          </p:cNvSpPr>
          <p:nvPr/>
        </p:nvSpPr>
        <p:spPr>
          <a:xfrm>
            <a:off x="7610475" y="2638425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F3 → F8 → F6 → F12 → F15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4307AE-3052-482B-B93B-43E138535D32}"/>
              </a:ext>
            </a:extLst>
          </p:cNvPr>
          <p:cNvSpPr>
            <a:spLocks noGrp="1"/>
          </p:cNvSpPr>
          <p:nvPr/>
        </p:nvSpPr>
        <p:spPr>
          <a:xfrm>
            <a:off x="7610475" y="3067050"/>
            <a:ext cx="3714750" cy="9525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DA4017-79CE-459D-B4AC-7819DF191144}"/>
              </a:ext>
            </a:extLst>
          </p:cNvPr>
          <p:cNvSpPr>
            <a:spLocks noGrp="1"/>
          </p:cNvSpPr>
          <p:nvPr/>
        </p:nvSpPr>
        <p:spPr>
          <a:xfrm>
            <a:off x="7610475" y="327660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2776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7765F"/>
                </a:solidFill>
                <a:latin typeface="Arial"/>
                <a:ea typeface="Arial"/>
                <a:cs typeface="Arial"/>
              </a:rPr>
              <a:t>Priority queue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CBB29C-300A-432B-9920-9A1977F999A8}"/>
              </a:ext>
            </a:extLst>
          </p:cNvPr>
          <p:cNvSpPr>
            <a:spLocks noGrp="1"/>
          </p:cNvSpPr>
          <p:nvPr/>
        </p:nvSpPr>
        <p:spPr>
          <a:xfrm>
            <a:off x="7610475" y="35814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F3 → F15 → F6 → F8 → F12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C33E77-06BF-48ED-B535-44DE381E51EF}"/>
              </a:ext>
            </a:extLst>
          </p:cNvPr>
          <p:cNvSpPr>
            <a:spLocks noGrp="1"/>
          </p:cNvSpPr>
          <p:nvPr/>
        </p:nvSpPr>
        <p:spPr>
          <a:xfrm>
            <a:off x="7610475" y="4114800"/>
            <a:ext cx="37147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726"/>
          </a:bodyPr>
          <a:lstStyle/>
          <a:p>
            <a:pPr algn="l">
              <a:lnSpc>
                <a:spcPct val="104000"/>
              </a:lnSpc>
              <a:buNone/>
              <a:defRPr sz="1575" b="1">
                <a:solidFill>
                  <a:srgbClr val="153A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A35"/>
                </a:solidFill>
                <a:latin typeface="Arial"/>
                <a:ea typeface="Arial"/>
                <a:cs typeface="Arial"/>
              </a:rPr>
              <a:t>In this sample, nearest-call greedy averages 25.2 seconds less wait per call.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D20306-7ED2-4438-86CC-47C78462301C}"/>
              </a:ext>
            </a:extLst>
          </p:cNvPr>
          <p:cNvSpPr>
            <a:spLocks noGrp="1"/>
          </p:cNvSpPr>
          <p:nvPr/>
        </p:nvSpPr>
        <p:spPr>
          <a:xfrm>
            <a:off x="723900" y="4886325"/>
            <a:ext cx="10744200" cy="9525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D8EB09-701B-4AE0-9A04-300A0BDC11FB}"/>
              </a:ext>
            </a:extLst>
          </p:cNvPr>
          <p:cNvSpPr>
            <a:spLocks noGrp="1"/>
          </p:cNvSpPr>
          <p:nvPr/>
        </p:nvSpPr>
        <p:spPr>
          <a:xfrm>
            <a:off x="723900" y="51244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1746E"/>
                </a:solidFill>
                <a:latin typeface="Arial"/>
                <a:ea typeface="Arial"/>
                <a:cs typeface="Arial"/>
              </a:rPr>
              <a:t>MAX WAIT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81F810-F4ED-4634-9109-199A4CDD4375}"/>
              </a:ext>
            </a:extLst>
          </p:cNvPr>
          <p:cNvSpPr>
            <a:spLocks noGrp="1"/>
          </p:cNvSpPr>
          <p:nvPr/>
        </p:nvSpPr>
        <p:spPr>
          <a:xfrm>
            <a:off x="723900" y="5362575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D2A"/>
                </a:solidFill>
                <a:latin typeface="Arial"/>
                <a:ea typeface="Arial"/>
                <a:cs typeface="Arial"/>
              </a:rPr>
              <a:t>Greedy 74s   ·   Priority 99s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4B0FE1-A6F7-49D1-AD32-85046E503E00}"/>
              </a:ext>
            </a:extLst>
          </p:cNvPr>
          <p:cNvSpPr>
            <a:spLocks noGrp="1"/>
          </p:cNvSpPr>
          <p:nvPr/>
        </p:nvSpPr>
        <p:spPr>
          <a:xfrm>
            <a:off x="6334125" y="51244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1746E"/>
                </a:solidFill>
                <a:latin typeface="Arial"/>
                <a:ea typeface="Arial"/>
                <a:cs typeface="Arial"/>
              </a:rPr>
              <a:t>TRAVEL TIME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191301-83B6-4ACD-B2A6-148908C58029}"/>
              </a:ext>
            </a:extLst>
          </p:cNvPr>
          <p:cNvSpPr>
            <a:spLocks noGrp="1"/>
          </p:cNvSpPr>
          <p:nvPr/>
        </p:nvSpPr>
        <p:spPr>
          <a:xfrm>
            <a:off x="6334125" y="5362575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D2A"/>
                </a:solidFill>
                <a:latin typeface="Arial"/>
                <a:ea typeface="Arial"/>
                <a:cs typeface="Arial"/>
              </a:rPr>
              <a:t>Greedy 54s   ·   Priority 87s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4885F-84D0-48FA-A630-D735EF6BFE67}"/>
              </a:ext>
            </a:extLst>
          </p:cNvPr>
          <p:cNvSpPr>
            <a:spLocks noGrp="1"/>
          </p:cNvSpPr>
          <p:nvPr/>
        </p:nvSpPr>
        <p:spPr>
          <a:xfrm>
            <a:off x="723900" y="5886450"/>
            <a:ext cx="10620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Illustrative model: one elevator, pickups only; drop-offs and real traffic are not modeled.</a:t>
            </a:r>
          </a:p>
        </p:txBody>
      </p:sp>
    </p:spTree>
    <p:extLst>
      <p:ext uri="{BB962C8B-B14F-4D97-AF65-F5344CB8AC3E}">
        <p14:creationId xmlns:p14="http://schemas.microsoft.com/office/powerpoint/2010/main" val="447470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07B221-6D94-0E72-946D-704C759A2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455174" y="887967"/>
            <a:ext cx="8442260" cy="5745427"/>
          </a:xfrm>
          <a:prstGeom prst="roundRect">
            <a:avLst>
              <a:gd name="adj" fmla="val 2959"/>
            </a:avLst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9EF692-E21A-2116-ED9F-3729E1477F4A}"/>
              </a:ext>
            </a:extLst>
          </p:cNvPr>
          <p:cNvSpPr txBox="1"/>
          <p:nvPr/>
        </p:nvSpPr>
        <p:spPr>
          <a:xfrm>
            <a:off x="786581" y="314631"/>
            <a:ext cx="4788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User interface of  prototype</a:t>
            </a:r>
            <a:r>
              <a:rPr lang="en-US" dirty="0"/>
              <a:t>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6725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816ED63-16B9-49A0-9A94-A159D437DE68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8382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2776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765F"/>
                </a:solidFill>
                <a:latin typeface="Arial"/>
                <a:ea typeface="Arial"/>
                <a:cs typeface="Arial"/>
              </a:rPr>
              <a:t>07  /  FUTURE VISION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CC13E6-6271-4C00-9B0B-476B33BF3B4D}"/>
              </a:ext>
            </a:extLst>
          </p:cNvPr>
          <p:cNvSpPr>
            <a:spLocks noGrp="1"/>
          </p:cNvSpPr>
          <p:nvPr/>
        </p:nvSpPr>
        <p:spPr>
          <a:xfrm>
            <a:off x="685800" y="6953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750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Future Vision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EFDC8D-EC2E-4F5E-AAC0-076B30F65DE8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9525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C7558C-C481-4928-B209-03B06437E6F6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SMART ELEVATOR SCHEDULER  /  HACKATHON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3D558E-1C13-410B-8B3A-365CE8A3D8A7}"/>
              </a:ext>
            </a:extLst>
          </p:cNvPr>
          <p:cNvSpPr>
            <a:spLocks noGrp="1"/>
          </p:cNvSpPr>
          <p:nvPr/>
        </p:nvSpPr>
        <p:spPr>
          <a:xfrm>
            <a:off x="10382250" y="6524625"/>
            <a:ext cx="112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07  /  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51672E-6C75-4D32-9C9A-EBF46E6B4BB1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2776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7765F"/>
                </a:solidFill>
                <a:latin typeface="Arial"/>
                <a:ea typeface="Arial"/>
                <a:cs typeface="Arial"/>
              </a:rPr>
              <a:t>CURRENT ACHIEVEMENT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96C763-78BF-4A5E-A3D5-B76878F73899}"/>
              </a:ext>
            </a:extLst>
          </p:cNvPr>
          <p:cNvSpPr>
            <a:spLocks noGrp="1"/>
          </p:cNvSpPr>
          <p:nvPr/>
        </p:nvSpPr>
        <p:spPr>
          <a:xfrm>
            <a:off x="723900" y="1914525"/>
            <a:ext cx="41910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6" lnSpcReduction="10000"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A working, explainable comparison for one elevator and time-stamped hall calls.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CC807F-EA33-47E9-BA71-E71D95BD3D64}"/>
              </a:ext>
            </a:extLst>
          </p:cNvPr>
          <p:cNvSpPr>
            <a:spLocks noGrp="1"/>
          </p:cNvSpPr>
          <p:nvPr/>
        </p:nvSpPr>
        <p:spPr>
          <a:xfrm>
            <a:off x="723900" y="2895600"/>
            <a:ext cx="4095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The interface exposes the visit order, waits, travel cost and choice rule.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682E59-9FD7-4303-B609-825B23C82EF8}"/>
              </a:ext>
            </a:extLst>
          </p:cNvPr>
          <p:cNvSpPr>
            <a:spLocks noGrp="1"/>
          </p:cNvSpPr>
          <p:nvPr/>
        </p:nvSpPr>
        <p:spPr>
          <a:xfrm>
            <a:off x="723900" y="354330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2776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7765F"/>
                </a:solidFill>
                <a:latin typeface="Arial"/>
                <a:ea typeface="Arial"/>
                <a:cs typeface="Arial"/>
              </a:rPr>
              <a:t>PRACTICAL BENEFITS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FA13C95-72E7-46F6-9FBA-ECC1BFC20A66}"/>
              </a:ext>
            </a:extLst>
          </p:cNvPr>
          <p:cNvSpPr>
            <a:spLocks noGrp="1"/>
          </p:cNvSpPr>
          <p:nvPr/>
        </p:nvSpPr>
        <p:spPr>
          <a:xfrm>
            <a:off x="742950" y="38385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8C57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094F78-63B8-483D-8670-DA0324647EF3}"/>
              </a:ext>
            </a:extLst>
          </p:cNvPr>
          <p:cNvSpPr>
            <a:spLocks noGrp="1"/>
          </p:cNvSpPr>
          <p:nvPr/>
        </p:nvSpPr>
        <p:spPr>
          <a:xfrm>
            <a:off x="962025" y="3800475"/>
            <a:ext cx="3981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D2A"/>
                </a:solidFill>
                <a:latin typeface="Arial"/>
                <a:ea typeface="Arial"/>
                <a:cs typeface="Arial"/>
              </a:rPr>
              <a:t>Compare average and worst waits before choosing a policy.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48970FD-9EBA-4A0C-BCA0-C793F8650F90}"/>
              </a:ext>
            </a:extLst>
          </p:cNvPr>
          <p:cNvSpPr>
            <a:spLocks noGrp="1"/>
          </p:cNvSpPr>
          <p:nvPr/>
        </p:nvSpPr>
        <p:spPr>
          <a:xfrm>
            <a:off x="742950" y="4181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8C57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30F7E9-847D-4261-B554-CA6F4A62E64F}"/>
              </a:ext>
            </a:extLst>
          </p:cNvPr>
          <p:cNvSpPr>
            <a:spLocks noGrp="1"/>
          </p:cNvSpPr>
          <p:nvPr/>
        </p:nvSpPr>
        <p:spPr>
          <a:xfrm>
            <a:off x="962025" y="4143375"/>
            <a:ext cx="3981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D2A"/>
                </a:solidFill>
                <a:latin typeface="Arial"/>
                <a:ea typeface="Arial"/>
                <a:cs typeface="Arial"/>
              </a:rPr>
              <a:t>Use editable calls for quick what-if planning or teaching.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6F025F9-650A-4062-876C-B0089F066389}"/>
              </a:ext>
            </a:extLst>
          </p:cNvPr>
          <p:cNvSpPr>
            <a:spLocks noGrp="1"/>
          </p:cNvSpPr>
          <p:nvPr/>
        </p:nvSpPr>
        <p:spPr>
          <a:xfrm>
            <a:off x="742950" y="4524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8C57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7F9D11-899D-49F5-B31E-E48BF686C313}"/>
              </a:ext>
            </a:extLst>
          </p:cNvPr>
          <p:cNvSpPr>
            <a:spLocks noGrp="1"/>
          </p:cNvSpPr>
          <p:nvPr/>
        </p:nvSpPr>
        <p:spPr>
          <a:xfrm>
            <a:off x="962025" y="4486275"/>
            <a:ext cx="3981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97"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D2A"/>
                </a:solidFill>
                <a:latin typeface="Arial"/>
                <a:ea typeface="Arial"/>
                <a:cs typeface="Arial"/>
              </a:rPr>
              <a:t>See why urgency can trade shorter trips for longer routine waits.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F2EAD9-08AB-4C33-8D25-EAD25D57E96C}"/>
              </a:ext>
            </a:extLst>
          </p:cNvPr>
          <p:cNvSpPr>
            <a:spLocks noGrp="1"/>
          </p:cNvSpPr>
          <p:nvPr/>
        </p:nvSpPr>
        <p:spPr>
          <a:xfrm>
            <a:off x="5314950" y="1600200"/>
            <a:ext cx="9525" cy="3619500"/>
          </a:xfrm>
          <a:prstGeom prst="rect">
            <a:avLst/>
          </a:prstGeom>
          <a:solidFill>
            <a:srgbClr val="D8DED6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4BBEC6-F653-49ED-8EA4-2907B455BB45}"/>
              </a:ext>
            </a:extLst>
          </p:cNvPr>
          <p:cNvSpPr>
            <a:spLocks noGrp="1"/>
          </p:cNvSpPr>
          <p:nvPr/>
        </p:nvSpPr>
        <p:spPr>
          <a:xfrm>
            <a:off x="5810250" y="160020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D98C5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8C57"/>
                </a:solidFill>
                <a:latin typeface="Arial"/>
                <a:ea typeface="Arial"/>
                <a:cs typeface="Arial"/>
              </a:rPr>
              <a:t>NEXT IMPROVEMENTS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B72925-19DF-4AC5-AE65-83F43C0F809A}"/>
              </a:ext>
            </a:extLst>
          </p:cNvPr>
          <p:cNvSpPr>
            <a:spLocks noGrp="1"/>
          </p:cNvSpPr>
          <p:nvPr/>
        </p:nvSpPr>
        <p:spPr>
          <a:xfrm>
            <a:off x="5810250" y="2009775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D98C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8C5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10845A-D73E-4B67-99D9-DA659534A8B1}"/>
              </a:ext>
            </a:extLst>
          </p:cNvPr>
          <p:cNvSpPr>
            <a:spLocks noGrp="1"/>
          </p:cNvSpPr>
          <p:nvPr/>
        </p:nvSpPr>
        <p:spPr>
          <a:xfrm>
            <a:off x="6324600" y="1990725"/>
            <a:ext cx="4667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Fairness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CB3B20-68D7-4B3B-8395-5F344DC2D418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4762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75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Age waiting calls so routine riders cannot be postponed indefinitely.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1BB801-7FC9-4DC8-9BBE-5B6B8D61B956}"/>
              </a:ext>
            </a:extLst>
          </p:cNvPr>
          <p:cNvSpPr>
            <a:spLocks noGrp="1"/>
          </p:cNvSpPr>
          <p:nvPr/>
        </p:nvSpPr>
        <p:spPr>
          <a:xfrm>
            <a:off x="5810250" y="3019425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D98C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8C5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44F558-3B6B-4BC6-B32B-CE8EEF343A4E}"/>
              </a:ext>
            </a:extLst>
          </p:cNvPr>
          <p:cNvSpPr>
            <a:spLocks noGrp="1"/>
          </p:cNvSpPr>
          <p:nvPr/>
        </p:nvSpPr>
        <p:spPr>
          <a:xfrm>
            <a:off x="6324600" y="3000375"/>
            <a:ext cx="4667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Multiple cars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32B7F6-0E8F-4BB0-BD3A-A91FF6D4B506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4762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75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Assign requests across elevators and compare zone or nearest-car policies.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18238A-76CC-42D7-9F54-99025C38FD93}"/>
              </a:ext>
            </a:extLst>
          </p:cNvPr>
          <p:cNvSpPr>
            <a:spLocks noGrp="1"/>
          </p:cNvSpPr>
          <p:nvPr/>
        </p:nvSpPr>
        <p:spPr>
          <a:xfrm>
            <a:off x="5810250" y="4029075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D98C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8C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8FB569-7682-4A39-82F0-52D6FA9D546F}"/>
              </a:ext>
            </a:extLst>
          </p:cNvPr>
          <p:cNvSpPr>
            <a:spLocks noGrp="1"/>
          </p:cNvSpPr>
          <p:nvPr/>
        </p:nvSpPr>
        <p:spPr>
          <a:xfrm>
            <a:off x="6324600" y="4010025"/>
            <a:ext cx="4667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172D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D2A"/>
                </a:solidFill>
                <a:latin typeface="Arial"/>
                <a:ea typeface="Arial"/>
                <a:cs typeface="Arial"/>
              </a:rPr>
              <a:t>Real traffic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49E947-7AE7-4C28-901C-F37EBE096620}"/>
              </a:ext>
            </a:extLst>
          </p:cNvPr>
          <p:cNvSpPr>
            <a:spLocks noGrp="1"/>
          </p:cNvSpPr>
          <p:nvPr/>
        </p:nvSpPr>
        <p:spPr>
          <a:xfrm>
            <a:off x="6324600" y="4324350"/>
            <a:ext cx="4762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75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Add passenger destinations, peak demand and replayable building data.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351189-366E-4873-AD78-4B9CF67F5152}"/>
              </a:ext>
            </a:extLst>
          </p:cNvPr>
          <p:cNvSpPr>
            <a:spLocks noGrp="1"/>
          </p:cNvSpPr>
          <p:nvPr/>
        </p:nvSpPr>
        <p:spPr>
          <a:xfrm>
            <a:off x="723900" y="4838700"/>
            <a:ext cx="10744200" cy="28575"/>
          </a:xfrm>
          <a:prstGeom prst="rect">
            <a:avLst/>
          </a:prstGeom>
          <a:solidFill>
            <a:srgbClr val="27765F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4F1367-DC55-476B-B4D5-04E277A94BA4}"/>
              </a:ext>
            </a:extLst>
          </p:cNvPr>
          <p:cNvSpPr>
            <a:spLocks noGrp="1"/>
          </p:cNvSpPr>
          <p:nvPr/>
        </p:nvSpPr>
        <p:spPr>
          <a:xfrm>
            <a:off x="723900" y="51054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2776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7765F"/>
                </a:solidFill>
                <a:latin typeface="Arial"/>
                <a:ea typeface="Arial"/>
                <a:cs typeface="Arial"/>
              </a:rPr>
              <a:t>FINAL TAKEAWAY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781FF13-A47A-4914-A147-25DE5B5E684F}"/>
              </a:ext>
            </a:extLst>
          </p:cNvPr>
          <p:cNvSpPr>
            <a:spLocks noGrp="1"/>
          </p:cNvSpPr>
          <p:nvPr/>
        </p:nvSpPr>
        <p:spPr>
          <a:xfrm>
            <a:off x="723900" y="5410200"/>
            <a:ext cx="77152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800" b="1">
                <a:solidFill>
                  <a:srgbClr val="153A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3A35"/>
                </a:solidFill>
                <a:latin typeface="Arial"/>
                <a:ea typeface="Arial"/>
                <a:cs typeface="Arial"/>
              </a:rPr>
              <a:t>Make the scheduling rule visible. Measure who waits, and choose the trade-off that fits the building.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70E3281-0F5E-46FA-AC55-C7FD453DD227}"/>
              </a:ext>
            </a:extLst>
          </p:cNvPr>
          <p:cNvSpPr>
            <a:spLocks noGrp="1"/>
          </p:cNvSpPr>
          <p:nvPr/>
        </p:nvSpPr>
        <p:spPr>
          <a:xfrm>
            <a:off x="9201150" y="5314950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650" b="1">
                <a:solidFill>
                  <a:srgbClr val="2776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7765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636F93-8461-4035-854D-09AE14D89EE7}"/>
              </a:ext>
            </a:extLst>
          </p:cNvPr>
          <p:cNvSpPr>
            <a:spLocks noGrp="1"/>
          </p:cNvSpPr>
          <p:nvPr/>
        </p:nvSpPr>
        <p:spPr>
          <a:xfrm>
            <a:off x="9201150" y="5657850"/>
            <a:ext cx="2238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350" b="0">
                <a:solidFill>
                  <a:srgbClr val="617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6E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8305486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1135</Words>
  <Application>Microsoft Office PowerPoint</Application>
  <DocSecurity>0</DocSecurity>
  <PresentationFormat>Widescreen</PresentationFormat>
  <Paragraphs>154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Ashwanth Ambati</cp:lastModifiedBy>
  <cp:revision>1</cp:revision>
  <dcterms:created xsi:type="dcterms:W3CDTF">2026-10-03T07:20:40Z</dcterms:created>
  <dcterms:modified xsi:type="dcterms:W3CDTF">2026-10-03T09:06:41Z</dcterms:modified>
</cp:coreProperties>
</file>